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185672"/>
            <a:ext cx="804545" cy="0"/>
          </a:xfrm>
          <a:custGeom>
            <a:avLst/>
            <a:gdLst/>
            <a:ahLst/>
            <a:cxnLst/>
            <a:rect l="l" t="t" r="r" b="b"/>
            <a:pathLst>
              <a:path w="804545" h="0">
                <a:moveTo>
                  <a:pt x="0" y="0"/>
                </a:moveTo>
                <a:lnTo>
                  <a:pt x="804189" y="0"/>
                </a:lnTo>
              </a:path>
            </a:pathLst>
          </a:custGeom>
          <a:ln w="857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4379" cy="44927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16686" y="673734"/>
            <a:ext cx="7553325" cy="1062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185672"/>
            <a:ext cx="804545" cy="0"/>
          </a:xfrm>
          <a:custGeom>
            <a:avLst/>
            <a:gdLst/>
            <a:ahLst/>
            <a:cxnLst/>
            <a:rect l="l" t="t" r="r" b="b"/>
            <a:pathLst>
              <a:path w="804545" h="0">
                <a:moveTo>
                  <a:pt x="0" y="0"/>
                </a:moveTo>
                <a:lnTo>
                  <a:pt x="804189" y="0"/>
                </a:lnTo>
              </a:path>
            </a:pathLst>
          </a:custGeom>
          <a:ln w="857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1594" y="385952"/>
            <a:ext cx="11468811" cy="1132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4461" y="1346961"/>
            <a:ext cx="5572125" cy="43554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image" Target="../media/image23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3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4806" y="5495950"/>
            <a:ext cx="25800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60" b="1">
                <a:latin typeface="Carlito"/>
                <a:cs typeface="Carlito"/>
              </a:rPr>
              <a:t>Team</a:t>
            </a:r>
            <a:r>
              <a:rPr dirty="0" sz="4800" spc="-195" b="1">
                <a:latin typeface="Carlito"/>
                <a:cs typeface="Carlito"/>
              </a:rPr>
              <a:t> </a:t>
            </a:r>
            <a:r>
              <a:rPr dirty="0" sz="4800" spc="-25" b="1">
                <a:latin typeface="Carlito"/>
                <a:cs typeface="Carlito"/>
              </a:rPr>
              <a:t>GRK</a:t>
            </a:r>
            <a:endParaRPr sz="4800">
              <a:latin typeface="Carlito"/>
              <a:cs typeface="Carlito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0583" y="4669533"/>
            <a:ext cx="1651275" cy="210612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5959" y="5312664"/>
            <a:ext cx="2388107" cy="8854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16686" y="673734"/>
            <a:ext cx="7553325" cy="10623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800" b="1">
                <a:solidFill>
                  <a:srgbClr val="FFFFFF"/>
                </a:solidFill>
                <a:latin typeface="Carlito"/>
                <a:cs typeface="Carlito"/>
              </a:rPr>
              <a:t>PEARMUND</a:t>
            </a:r>
            <a:r>
              <a:rPr dirty="0" sz="6800" spc="-13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6800" spc="-10" b="1">
                <a:solidFill>
                  <a:srgbClr val="FFFFFF"/>
                </a:solidFill>
                <a:latin typeface="Carlito"/>
                <a:cs typeface="Carlito"/>
              </a:rPr>
              <a:t>CELLARS</a:t>
            </a:r>
            <a:endParaRPr sz="6800">
              <a:latin typeface="Carlito"/>
              <a:cs typeface="Carli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16686" y="1554302"/>
            <a:ext cx="9904095" cy="1062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800" b="1">
                <a:solidFill>
                  <a:srgbClr val="FFFFFF"/>
                </a:solidFill>
                <a:latin typeface="Carlito"/>
                <a:cs typeface="Carlito"/>
              </a:rPr>
              <a:t>WINERY</a:t>
            </a:r>
            <a:r>
              <a:rPr dirty="0" sz="6800" spc="-13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6800" spc="-175" b="1">
                <a:solidFill>
                  <a:srgbClr val="FFFFFF"/>
                </a:solidFill>
                <a:latin typeface="Carlito"/>
                <a:cs typeface="Carlito"/>
              </a:rPr>
              <a:t>D</a:t>
            </a:r>
            <a:r>
              <a:rPr dirty="0" sz="6800" spc="-550" b="1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dirty="0" sz="6800" spc="-555" b="1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dirty="0" sz="6800" spc="-15" b="1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dirty="0" sz="6800" spc="-6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6800" spc="-10" b="1">
                <a:solidFill>
                  <a:srgbClr val="FFFFFF"/>
                </a:solidFill>
                <a:latin typeface="Carlito"/>
                <a:cs typeface="Carlito"/>
              </a:rPr>
              <a:t>WAREHOUSE</a:t>
            </a:r>
            <a:endParaRPr sz="6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142809"/>
            <a:ext cx="798195" cy="85725"/>
          </a:xfrm>
          <a:custGeom>
            <a:avLst/>
            <a:gdLst/>
            <a:ahLst/>
            <a:cxnLst/>
            <a:rect l="l" t="t" r="r" b="b"/>
            <a:pathLst>
              <a:path w="798195" h="85725">
                <a:moveTo>
                  <a:pt x="798093" y="0"/>
                </a:moveTo>
                <a:lnTo>
                  <a:pt x="0" y="0"/>
                </a:lnTo>
                <a:lnTo>
                  <a:pt x="0" y="85725"/>
                </a:lnTo>
                <a:lnTo>
                  <a:pt x="798093" y="85725"/>
                </a:lnTo>
                <a:lnTo>
                  <a:pt x="7980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657" y="3720267"/>
            <a:ext cx="2189130" cy="219285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99802" y="3767763"/>
            <a:ext cx="2101747" cy="209658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1377" y="1124141"/>
            <a:ext cx="2281650" cy="2277298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786888" y="3310890"/>
            <a:ext cx="134429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4605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rlito"/>
                <a:cs typeface="Carlito"/>
              </a:rPr>
              <a:t>Sean</a:t>
            </a:r>
            <a:r>
              <a:rPr dirty="0" sz="1800" spc="-25" b="1">
                <a:latin typeface="Carlito"/>
                <a:cs typeface="Carlito"/>
              </a:rPr>
              <a:t> </a:t>
            </a:r>
            <a:r>
              <a:rPr dirty="0" sz="1800" spc="-20" b="1">
                <a:latin typeface="Carlito"/>
                <a:cs typeface="Carlito"/>
              </a:rPr>
              <a:t>Corry </a:t>
            </a:r>
            <a:r>
              <a:rPr dirty="0" sz="1800" b="1">
                <a:latin typeface="Carlito"/>
                <a:cs typeface="Carlito"/>
              </a:rPr>
              <a:t>Scrum</a:t>
            </a:r>
            <a:r>
              <a:rPr dirty="0" sz="1800" spc="-10" b="1">
                <a:latin typeface="Carlito"/>
                <a:cs typeface="Carlito"/>
              </a:rPr>
              <a:t> Master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24636" y="5878474"/>
            <a:ext cx="146367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rlito"/>
                <a:cs typeface="Carlito"/>
              </a:rPr>
              <a:t>Ishan</a:t>
            </a:r>
            <a:r>
              <a:rPr dirty="0" sz="1800" spc="-25" b="1">
                <a:latin typeface="Carlito"/>
                <a:cs typeface="Carlito"/>
              </a:rPr>
              <a:t> </a:t>
            </a:r>
            <a:r>
              <a:rPr dirty="0" sz="1800" spc="-20" b="1">
                <a:latin typeface="Carlito"/>
                <a:cs typeface="Carlito"/>
              </a:rPr>
              <a:t>Patel</a:t>
            </a:r>
            <a:endParaRPr sz="1800">
              <a:latin typeface="Carlito"/>
              <a:cs typeface="Carlito"/>
            </a:endParaRPr>
          </a:p>
          <a:p>
            <a:pPr algn="ctr">
              <a:lnSpc>
                <a:spcPct val="100000"/>
              </a:lnSpc>
            </a:pPr>
            <a:r>
              <a:rPr dirty="0" sz="1800" b="1">
                <a:latin typeface="Carlito"/>
                <a:cs typeface="Carlito"/>
              </a:rPr>
              <a:t>Product</a:t>
            </a:r>
            <a:r>
              <a:rPr dirty="0" sz="1800" spc="-85" b="1">
                <a:latin typeface="Carlito"/>
                <a:cs typeface="Carlito"/>
              </a:rPr>
              <a:t> </a:t>
            </a:r>
            <a:r>
              <a:rPr dirty="0" sz="1800" spc="-20" b="1">
                <a:latin typeface="Carlito"/>
                <a:cs typeface="Carlito"/>
              </a:rPr>
              <a:t>Owner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781169" y="5883046"/>
            <a:ext cx="17437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2905" marR="5080" indent="-37084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rlito"/>
                <a:cs typeface="Carlito"/>
              </a:rPr>
              <a:t>Rishitha</a:t>
            </a:r>
            <a:r>
              <a:rPr dirty="0" sz="1800" spc="-45" b="1">
                <a:latin typeface="Carlito"/>
                <a:cs typeface="Carlito"/>
              </a:rPr>
              <a:t> </a:t>
            </a:r>
            <a:r>
              <a:rPr dirty="0" sz="1800" spc="-10" b="1">
                <a:latin typeface="Carlito"/>
                <a:cs typeface="Carlito"/>
              </a:rPr>
              <a:t>Madipelli Developer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960489" y="3434333"/>
            <a:ext cx="20656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4195" marR="5080" indent="-53213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rlito"/>
                <a:cs typeface="Carlito"/>
              </a:rPr>
              <a:t>Satwik</a:t>
            </a:r>
            <a:r>
              <a:rPr dirty="0" sz="1800" spc="-20" b="1">
                <a:latin typeface="Carlito"/>
                <a:cs typeface="Carlito"/>
              </a:rPr>
              <a:t> </a:t>
            </a:r>
            <a:r>
              <a:rPr dirty="0" sz="1800" spc="-10" b="1">
                <a:latin typeface="Carlito"/>
                <a:cs typeface="Carlito"/>
              </a:rPr>
              <a:t>Pandapragada Developer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503156" y="6004661"/>
            <a:ext cx="17227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5080" indent="-36004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rlito"/>
                <a:cs typeface="Carlito"/>
              </a:rPr>
              <a:t>Dhananjay</a:t>
            </a:r>
            <a:r>
              <a:rPr dirty="0" sz="1800" spc="-85" b="1">
                <a:latin typeface="Carlito"/>
                <a:cs typeface="Carlito"/>
              </a:rPr>
              <a:t> </a:t>
            </a:r>
            <a:r>
              <a:rPr dirty="0" sz="1800" spc="-10" b="1">
                <a:latin typeface="Carlito"/>
                <a:cs typeface="Carlito"/>
              </a:rPr>
              <a:t>Nunna Developer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000000"/>
                </a:solidFill>
              </a:rPr>
              <a:t>TEAM</a:t>
            </a:r>
            <a:r>
              <a:rPr dirty="0" sz="4000" spc="-105">
                <a:solidFill>
                  <a:srgbClr val="000000"/>
                </a:solidFill>
              </a:rPr>
              <a:t> </a:t>
            </a:r>
            <a:r>
              <a:rPr dirty="0" sz="4000" spc="-10">
                <a:solidFill>
                  <a:srgbClr val="000000"/>
                </a:solidFill>
              </a:rPr>
              <a:t>MEMBERS</a:t>
            </a:r>
            <a:endParaRPr sz="4000"/>
          </a:p>
        </p:txBody>
      </p: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77609" y="3639148"/>
            <a:ext cx="2348801" cy="2361002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78573" y="1186433"/>
            <a:ext cx="2157983" cy="2106168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1582400" y="0"/>
            <a:ext cx="609600" cy="204470"/>
          </a:xfrm>
          <a:prstGeom prst="rect">
            <a:avLst/>
          </a:prstGeom>
          <a:ln w="15875">
            <a:solidFill>
              <a:srgbClr val="13234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3175">
              <a:lnSpc>
                <a:spcPts val="1550"/>
              </a:lnSpc>
            </a:pPr>
            <a:r>
              <a:rPr dirty="0" sz="1400" spc="-50" b="1">
                <a:latin typeface="Carlito"/>
                <a:cs typeface="Carlito"/>
              </a:rPr>
              <a:t>2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185672"/>
            <a:ext cx="804545" cy="0"/>
          </a:xfrm>
          <a:custGeom>
            <a:avLst/>
            <a:gdLst/>
            <a:ahLst/>
            <a:cxnLst/>
            <a:rect l="l" t="t" r="r" b="b"/>
            <a:pathLst>
              <a:path w="804545" h="0">
                <a:moveTo>
                  <a:pt x="0" y="0"/>
                </a:moveTo>
                <a:lnTo>
                  <a:pt x="804189" y="0"/>
                </a:lnTo>
              </a:path>
            </a:pathLst>
          </a:custGeom>
          <a:ln w="857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4063" rIns="0" bIns="0" rtlCol="0" vert="horz">
            <a:spAutoFit/>
          </a:bodyPr>
          <a:lstStyle/>
          <a:p>
            <a:pPr marL="56769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000000"/>
                </a:solidFill>
              </a:rPr>
              <a:t>GRK</a:t>
            </a:r>
            <a:r>
              <a:rPr dirty="0" sz="3200" spc="-15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AND</a:t>
            </a:r>
            <a:r>
              <a:rPr dirty="0" sz="3200" spc="-10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VINA</a:t>
            </a:r>
            <a:r>
              <a:rPr dirty="0" sz="3200" spc="-20">
                <a:solidFill>
                  <a:srgbClr val="000000"/>
                </a:solidFill>
              </a:rPr>
              <a:t> </a:t>
            </a:r>
            <a:r>
              <a:rPr dirty="0" sz="3200" spc="-10">
                <a:solidFill>
                  <a:srgbClr val="000000"/>
                </a:solidFill>
              </a:rPr>
              <a:t>SABULUM</a:t>
            </a:r>
            <a:endParaRPr sz="32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84391" y="1557527"/>
            <a:ext cx="5346192" cy="229057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84519" y="4006596"/>
            <a:ext cx="5349112" cy="230581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68040" y="1557527"/>
            <a:ext cx="2638043" cy="475488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0163" y="1557527"/>
            <a:ext cx="2639568" cy="4754880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11576304" y="0"/>
            <a:ext cx="609600" cy="204470"/>
          </a:xfrm>
          <a:custGeom>
            <a:avLst/>
            <a:gdLst/>
            <a:ahLst/>
            <a:cxnLst/>
            <a:rect l="l" t="t" r="r" b="b"/>
            <a:pathLst>
              <a:path w="609600" h="204470">
                <a:moveTo>
                  <a:pt x="0" y="204216"/>
                </a:moveTo>
                <a:lnTo>
                  <a:pt x="609600" y="204216"/>
                </a:lnTo>
                <a:lnTo>
                  <a:pt x="609600" y="0"/>
                </a:lnTo>
                <a:lnTo>
                  <a:pt x="0" y="0"/>
                </a:lnTo>
                <a:lnTo>
                  <a:pt x="0" y="204216"/>
                </a:lnTo>
                <a:close/>
              </a:path>
            </a:pathLst>
          </a:custGeom>
          <a:ln w="15874">
            <a:solidFill>
              <a:srgbClr val="1323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824843" y="-29464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latin typeface="Carlito"/>
                <a:cs typeface="Carlito"/>
              </a:rPr>
              <a:t>3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144333"/>
            <a:ext cx="796925" cy="85725"/>
          </a:xfrm>
          <a:custGeom>
            <a:avLst/>
            <a:gdLst/>
            <a:ahLst/>
            <a:cxnLst/>
            <a:rect l="l" t="t" r="r" b="b"/>
            <a:pathLst>
              <a:path w="796925" h="85725">
                <a:moveTo>
                  <a:pt x="796569" y="0"/>
                </a:moveTo>
                <a:lnTo>
                  <a:pt x="0" y="0"/>
                </a:lnTo>
                <a:lnTo>
                  <a:pt x="0" y="85725"/>
                </a:lnTo>
                <a:lnTo>
                  <a:pt x="796569" y="85725"/>
                </a:lnTo>
                <a:lnTo>
                  <a:pt x="7965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749808"/>
            <a:ext cx="12186285" cy="6106795"/>
            <a:chOff x="0" y="749808"/>
            <a:chExt cx="12186285" cy="610679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29983" y="749808"/>
              <a:ext cx="5455920" cy="336804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123942"/>
              <a:ext cx="6729983" cy="2732531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2558033" y="2251963"/>
            <a:ext cx="37217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Carlito"/>
                <a:cs typeface="Carlito"/>
              </a:rPr>
              <a:t>Chris</a:t>
            </a:r>
            <a:r>
              <a:rPr dirty="0" sz="2000" spc="-50" b="1">
                <a:latin typeface="Carlito"/>
                <a:cs typeface="Carlito"/>
              </a:rPr>
              <a:t> </a:t>
            </a:r>
            <a:r>
              <a:rPr dirty="0" sz="2000" b="1">
                <a:latin typeface="Carlito"/>
                <a:cs typeface="Carlito"/>
              </a:rPr>
              <a:t>Pearmund:</a:t>
            </a:r>
            <a:r>
              <a:rPr dirty="0" sz="2000" spc="-45" b="1">
                <a:latin typeface="Carlito"/>
                <a:cs typeface="Carlito"/>
              </a:rPr>
              <a:t> </a:t>
            </a:r>
            <a:r>
              <a:rPr dirty="0" sz="2000" b="1">
                <a:latin typeface="Carlito"/>
                <a:cs typeface="Carlito"/>
              </a:rPr>
              <a:t>Managing</a:t>
            </a:r>
            <a:r>
              <a:rPr dirty="0" sz="2000" spc="-45" b="1">
                <a:latin typeface="Carlito"/>
                <a:cs typeface="Carlito"/>
              </a:rPr>
              <a:t> </a:t>
            </a:r>
            <a:r>
              <a:rPr dirty="0" sz="2000" spc="-10" b="1">
                <a:latin typeface="Carlito"/>
                <a:cs typeface="Carlito"/>
              </a:rPr>
              <a:t>Partner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6560" rIns="0" bIns="0" rtlCol="0" vert="horz">
            <a:spAutoFit/>
          </a:bodyPr>
          <a:lstStyle/>
          <a:p>
            <a:pPr marL="523875">
              <a:lnSpc>
                <a:spcPct val="100000"/>
              </a:lnSpc>
              <a:spcBef>
                <a:spcPts val="95"/>
              </a:spcBef>
            </a:pPr>
            <a:r>
              <a:rPr dirty="0" sz="4000" spc="-50">
                <a:solidFill>
                  <a:srgbClr val="000000"/>
                </a:solidFill>
              </a:rPr>
              <a:t>PARTNERS</a:t>
            </a:r>
            <a:endParaRPr sz="4000"/>
          </a:p>
        </p:txBody>
      </p:sp>
      <p:sp>
        <p:nvSpPr>
          <p:cNvPr id="8" name="object 8" descr=""/>
          <p:cNvSpPr txBox="1"/>
          <p:nvPr/>
        </p:nvSpPr>
        <p:spPr>
          <a:xfrm>
            <a:off x="7037069" y="5308472"/>
            <a:ext cx="36906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Carlito"/>
                <a:cs typeface="Carlito"/>
              </a:rPr>
              <a:t>John</a:t>
            </a:r>
            <a:r>
              <a:rPr dirty="0" sz="2000" spc="-60" b="1">
                <a:latin typeface="Carlito"/>
                <a:cs typeface="Carlito"/>
              </a:rPr>
              <a:t> </a:t>
            </a:r>
            <a:r>
              <a:rPr dirty="0" sz="2000" b="1">
                <a:latin typeface="Carlito"/>
                <a:cs typeface="Carlito"/>
              </a:rPr>
              <a:t>Memoli:</a:t>
            </a:r>
            <a:r>
              <a:rPr dirty="0" sz="2000" spc="-50" b="1">
                <a:latin typeface="Carlito"/>
                <a:cs typeface="Carlito"/>
              </a:rPr>
              <a:t> </a:t>
            </a:r>
            <a:r>
              <a:rPr dirty="0" sz="2000" b="1">
                <a:latin typeface="Carlito"/>
                <a:cs typeface="Carlito"/>
              </a:rPr>
              <a:t>Operations</a:t>
            </a:r>
            <a:r>
              <a:rPr dirty="0" sz="2000" spc="-45" b="1">
                <a:latin typeface="Carlito"/>
                <a:cs typeface="Carlito"/>
              </a:rPr>
              <a:t> </a:t>
            </a:r>
            <a:r>
              <a:rPr dirty="0" sz="2000" spc="-10" b="1">
                <a:latin typeface="Carlito"/>
                <a:cs typeface="Carlito"/>
              </a:rPr>
              <a:t>Manager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576304" y="0"/>
            <a:ext cx="609600" cy="204470"/>
          </a:xfrm>
          <a:prstGeom prst="rect">
            <a:avLst/>
          </a:prstGeom>
          <a:ln w="15875">
            <a:solidFill>
              <a:srgbClr val="13234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3175">
              <a:lnSpc>
                <a:spcPts val="1550"/>
              </a:lnSpc>
            </a:pPr>
            <a:r>
              <a:rPr dirty="0" sz="1400" spc="-50" b="1">
                <a:latin typeface="Carlito"/>
                <a:cs typeface="Carlito"/>
              </a:rPr>
              <a:t>4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0242" rIns="0" bIns="0" rtlCol="0" vert="horz">
            <a:spAutoFit/>
          </a:bodyPr>
          <a:lstStyle/>
          <a:p>
            <a:pPr marL="522605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000000"/>
                </a:solidFill>
              </a:rPr>
              <a:t>PROBLEM</a:t>
            </a:r>
            <a:r>
              <a:rPr dirty="0" sz="4000" spc="-195">
                <a:solidFill>
                  <a:srgbClr val="000000"/>
                </a:solidFill>
              </a:rPr>
              <a:t> </a:t>
            </a:r>
            <a:r>
              <a:rPr dirty="0" sz="4000" spc="-60">
                <a:solidFill>
                  <a:srgbClr val="000000"/>
                </a:solidFill>
              </a:rPr>
              <a:t>STATEMENT</a:t>
            </a:r>
            <a:endParaRPr sz="4000"/>
          </a:p>
        </p:txBody>
      </p:sp>
      <p:grpSp>
        <p:nvGrpSpPr>
          <p:cNvPr id="3" name="object 3" descr=""/>
          <p:cNvGrpSpPr/>
          <p:nvPr/>
        </p:nvGrpSpPr>
        <p:grpSpPr>
          <a:xfrm>
            <a:off x="6181344" y="30480"/>
            <a:ext cx="6009640" cy="6827520"/>
            <a:chOff x="6181344" y="30480"/>
            <a:chExt cx="6009640" cy="68275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81160" y="3825239"/>
              <a:ext cx="2909316" cy="303275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1344" y="30480"/>
              <a:ext cx="3232404" cy="376427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478942" y="1715770"/>
            <a:ext cx="5356225" cy="40500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146685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400">
                <a:latin typeface="Carlito"/>
                <a:cs typeface="Carlito"/>
              </a:rPr>
              <a:t>Three</a:t>
            </a:r>
            <a:r>
              <a:rPr dirty="0" sz="2400" spc="-55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separate</a:t>
            </a:r>
            <a:r>
              <a:rPr dirty="0" sz="2400" spc="-75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systems</a:t>
            </a:r>
            <a:r>
              <a:rPr dirty="0" sz="2400" spc="-85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for</a:t>
            </a:r>
            <a:r>
              <a:rPr dirty="0" sz="2400" spc="-65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each</a:t>
            </a:r>
            <a:r>
              <a:rPr dirty="0" sz="2400" spc="-80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winery </a:t>
            </a:r>
            <a:r>
              <a:rPr dirty="0" sz="2400">
                <a:latin typeface="Carlito"/>
                <a:cs typeface="Carlito"/>
              </a:rPr>
              <a:t>make</a:t>
            </a:r>
            <a:r>
              <a:rPr dirty="0" sz="2400" spc="-100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analysis</a:t>
            </a:r>
            <a:r>
              <a:rPr dirty="0" sz="2400" spc="-85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difficult</a:t>
            </a:r>
            <a:endParaRPr sz="2400">
              <a:latin typeface="Carlito"/>
              <a:cs typeface="Carlito"/>
            </a:endParaRPr>
          </a:p>
          <a:p>
            <a:pPr marL="299085" marR="5080" indent="-287020">
              <a:lnSpc>
                <a:spcPct val="100000"/>
              </a:lnSpc>
              <a:spcBef>
                <a:spcPts val="288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400">
                <a:latin typeface="Carlito"/>
                <a:cs typeface="Carlito"/>
              </a:rPr>
              <a:t>Singular</a:t>
            </a:r>
            <a:r>
              <a:rPr dirty="0" sz="2400" spc="-45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solution</a:t>
            </a:r>
            <a:r>
              <a:rPr dirty="0" sz="2400" spc="-40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to</a:t>
            </a:r>
            <a:r>
              <a:rPr dirty="0" sz="2400" spc="-30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integrate</a:t>
            </a:r>
            <a:r>
              <a:rPr dirty="0" sz="2400" spc="-50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the</a:t>
            </a:r>
            <a:r>
              <a:rPr dirty="0" sz="2400" spc="-20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data, </a:t>
            </a:r>
            <a:r>
              <a:rPr dirty="0" sz="2400">
                <a:latin typeface="Carlito"/>
                <a:cs typeface="Carlito"/>
              </a:rPr>
              <a:t>then</a:t>
            </a:r>
            <a:r>
              <a:rPr dirty="0" sz="2400" spc="-65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data</a:t>
            </a:r>
            <a:r>
              <a:rPr dirty="0" sz="2400" spc="-65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from</a:t>
            </a:r>
            <a:r>
              <a:rPr dirty="0" sz="2400" spc="-65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each</a:t>
            </a:r>
            <a:r>
              <a:rPr dirty="0" sz="2400" spc="-60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winery</a:t>
            </a:r>
            <a:r>
              <a:rPr dirty="0" sz="2400" spc="-70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can</a:t>
            </a:r>
            <a:r>
              <a:rPr dirty="0" sz="2400" spc="-60">
                <a:latin typeface="Carlito"/>
                <a:cs typeface="Carlito"/>
              </a:rPr>
              <a:t> </a:t>
            </a:r>
            <a:r>
              <a:rPr dirty="0" sz="2400" spc="-25">
                <a:latin typeface="Carlito"/>
                <a:cs typeface="Carlito"/>
              </a:rPr>
              <a:t>be </a:t>
            </a:r>
            <a:r>
              <a:rPr dirty="0" sz="2400" spc="-10">
                <a:latin typeface="Carlito"/>
                <a:cs typeface="Carlito"/>
              </a:rPr>
              <a:t>analyzed</a:t>
            </a:r>
            <a:r>
              <a:rPr dirty="0" sz="2400" spc="-65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separately</a:t>
            </a:r>
            <a:r>
              <a:rPr dirty="0" sz="2400" spc="-60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and</a:t>
            </a:r>
            <a:r>
              <a:rPr dirty="0" sz="2400" spc="-60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together</a:t>
            </a:r>
            <a:r>
              <a:rPr dirty="0" sz="2400" spc="-95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to</a:t>
            </a:r>
            <a:r>
              <a:rPr dirty="0" sz="2400" spc="-60">
                <a:latin typeface="Carlito"/>
                <a:cs typeface="Carlito"/>
              </a:rPr>
              <a:t> </a:t>
            </a:r>
            <a:r>
              <a:rPr dirty="0" sz="2400" spc="-20">
                <a:latin typeface="Carlito"/>
                <a:cs typeface="Carlito"/>
              </a:rPr>
              <a:t>help </a:t>
            </a:r>
            <a:r>
              <a:rPr dirty="0" sz="2400">
                <a:latin typeface="Carlito"/>
                <a:cs typeface="Carlito"/>
              </a:rPr>
              <a:t>with</a:t>
            </a:r>
            <a:r>
              <a:rPr dirty="0" sz="2400" spc="-40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analytics</a:t>
            </a:r>
            <a:endParaRPr sz="2400">
              <a:latin typeface="Carlito"/>
              <a:cs typeface="Carlito"/>
            </a:endParaRPr>
          </a:p>
          <a:p>
            <a:pPr marL="299085" indent="-286385">
              <a:lnSpc>
                <a:spcPct val="100000"/>
              </a:lnSpc>
              <a:spcBef>
                <a:spcPts val="288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400">
                <a:latin typeface="Carlito"/>
                <a:cs typeface="Carlito"/>
              </a:rPr>
              <a:t>A</a:t>
            </a:r>
            <a:r>
              <a:rPr dirty="0" sz="2400" spc="-60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Data</a:t>
            </a:r>
            <a:r>
              <a:rPr dirty="0" sz="2400" spc="-60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Warehouse</a:t>
            </a:r>
            <a:r>
              <a:rPr dirty="0" sz="2400" spc="-35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is</a:t>
            </a:r>
            <a:r>
              <a:rPr dirty="0" sz="2400" spc="-50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a</a:t>
            </a:r>
            <a:r>
              <a:rPr dirty="0" sz="2400" spc="-65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possible</a:t>
            </a:r>
            <a:r>
              <a:rPr dirty="0" sz="2400" spc="-35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Solution</a:t>
            </a:r>
            <a:endParaRPr sz="2400">
              <a:latin typeface="Carlito"/>
              <a:cs typeface="Carlito"/>
            </a:endParaRPr>
          </a:p>
          <a:p>
            <a:pPr lvl="1" marL="755015" marR="177165" indent="-285750">
              <a:lnSpc>
                <a:spcPct val="100000"/>
              </a:lnSpc>
              <a:buFont typeface="Courier New"/>
              <a:buChar char="o"/>
              <a:tabLst>
                <a:tab pos="756285" algn="l"/>
              </a:tabLst>
            </a:pPr>
            <a:r>
              <a:rPr dirty="0" sz="2400" b="1" i="1">
                <a:latin typeface="Carlito"/>
                <a:cs typeface="Carlito"/>
              </a:rPr>
              <a:t>Platform</a:t>
            </a:r>
            <a:r>
              <a:rPr dirty="0" sz="2400" spc="-20" b="1" i="1">
                <a:latin typeface="Carlito"/>
                <a:cs typeface="Carlito"/>
              </a:rPr>
              <a:t> </a:t>
            </a:r>
            <a:r>
              <a:rPr dirty="0" sz="2400" b="1" i="1">
                <a:latin typeface="Carlito"/>
                <a:cs typeface="Carlito"/>
              </a:rPr>
              <a:t>as</a:t>
            </a:r>
            <a:r>
              <a:rPr dirty="0" sz="2400" spc="-35" b="1" i="1">
                <a:latin typeface="Carlito"/>
                <a:cs typeface="Carlito"/>
              </a:rPr>
              <a:t> </a:t>
            </a:r>
            <a:r>
              <a:rPr dirty="0" sz="2400" b="1" i="1">
                <a:latin typeface="Carlito"/>
                <a:cs typeface="Carlito"/>
              </a:rPr>
              <a:t>a</a:t>
            </a:r>
            <a:r>
              <a:rPr dirty="0" sz="2400" spc="-35" b="1" i="1">
                <a:latin typeface="Carlito"/>
                <a:cs typeface="Carlito"/>
              </a:rPr>
              <a:t> </a:t>
            </a:r>
            <a:r>
              <a:rPr dirty="0" sz="2400" b="1" i="1">
                <a:latin typeface="Carlito"/>
                <a:cs typeface="Carlito"/>
              </a:rPr>
              <a:t>Service</a:t>
            </a:r>
            <a:r>
              <a:rPr dirty="0" sz="2400" spc="-45" b="1" i="1">
                <a:latin typeface="Carlito"/>
                <a:cs typeface="Carlito"/>
              </a:rPr>
              <a:t> </a:t>
            </a:r>
            <a:r>
              <a:rPr dirty="0" sz="2400" b="1" i="1">
                <a:latin typeface="Carlito"/>
                <a:cs typeface="Carlito"/>
              </a:rPr>
              <a:t>and</a:t>
            </a:r>
            <a:r>
              <a:rPr dirty="0" sz="2400" spc="-35" b="1" i="1">
                <a:latin typeface="Carlito"/>
                <a:cs typeface="Carlito"/>
              </a:rPr>
              <a:t> </a:t>
            </a:r>
            <a:r>
              <a:rPr dirty="0" sz="2400" spc="-10" b="1" i="1">
                <a:latin typeface="Carlito"/>
                <a:cs typeface="Carlito"/>
              </a:rPr>
              <a:t>Software</a:t>
            </a:r>
            <a:r>
              <a:rPr dirty="0" sz="2400" spc="-10" b="1" i="1">
                <a:latin typeface="Carlito"/>
                <a:cs typeface="Carlito"/>
              </a:rPr>
              <a:t> </a:t>
            </a:r>
            <a:r>
              <a:rPr dirty="0" sz="2400" spc="-10" b="1" i="1">
                <a:latin typeface="Carlito"/>
                <a:cs typeface="Carlito"/>
              </a:rPr>
              <a:t>	</a:t>
            </a:r>
            <a:r>
              <a:rPr dirty="0" sz="2400" b="1" i="1">
                <a:latin typeface="Carlito"/>
                <a:cs typeface="Carlito"/>
              </a:rPr>
              <a:t>as</a:t>
            </a:r>
            <a:r>
              <a:rPr dirty="0" sz="2400" spc="-15" b="1" i="1">
                <a:latin typeface="Carlito"/>
                <a:cs typeface="Carlito"/>
              </a:rPr>
              <a:t> </a:t>
            </a:r>
            <a:r>
              <a:rPr dirty="0" sz="2400" b="1" i="1">
                <a:latin typeface="Carlito"/>
                <a:cs typeface="Carlito"/>
              </a:rPr>
              <a:t>a</a:t>
            </a:r>
            <a:r>
              <a:rPr dirty="0" sz="2400" spc="-10" b="1" i="1">
                <a:latin typeface="Carlito"/>
                <a:cs typeface="Carlito"/>
              </a:rPr>
              <a:t> Service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580876" y="0"/>
            <a:ext cx="609600" cy="204470"/>
          </a:xfrm>
          <a:prstGeom prst="rect">
            <a:avLst/>
          </a:prstGeom>
          <a:ln w="15875">
            <a:solidFill>
              <a:srgbClr val="13234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3175">
              <a:lnSpc>
                <a:spcPts val="1550"/>
              </a:lnSpc>
            </a:pPr>
            <a:r>
              <a:rPr dirty="0" sz="1400" spc="-50" b="1">
                <a:latin typeface="Carlito"/>
                <a:cs typeface="Carlito"/>
              </a:rPr>
              <a:t>5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142809"/>
            <a:ext cx="798195" cy="85725"/>
          </a:xfrm>
          <a:custGeom>
            <a:avLst/>
            <a:gdLst/>
            <a:ahLst/>
            <a:cxnLst/>
            <a:rect l="l" t="t" r="r" b="b"/>
            <a:pathLst>
              <a:path w="798195" h="85725">
                <a:moveTo>
                  <a:pt x="798093" y="0"/>
                </a:moveTo>
                <a:lnTo>
                  <a:pt x="0" y="0"/>
                </a:lnTo>
                <a:lnTo>
                  <a:pt x="0" y="85725"/>
                </a:lnTo>
                <a:lnTo>
                  <a:pt x="798093" y="85725"/>
                </a:lnTo>
                <a:lnTo>
                  <a:pt x="7980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4747" y="4067364"/>
            <a:ext cx="5241920" cy="262775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2568" y="1283208"/>
            <a:ext cx="4017264" cy="214149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6814" rIns="0" bIns="0" rtlCol="0" vert="horz">
            <a:spAutoFit/>
          </a:bodyPr>
          <a:lstStyle/>
          <a:p>
            <a:pPr marL="522605">
              <a:lnSpc>
                <a:spcPct val="100000"/>
              </a:lnSpc>
              <a:spcBef>
                <a:spcPts val="95"/>
              </a:spcBef>
            </a:pPr>
            <a:r>
              <a:rPr dirty="0" sz="4000" spc="-150">
                <a:solidFill>
                  <a:srgbClr val="000000"/>
                </a:solidFill>
              </a:rPr>
              <a:t>DATAWARE</a:t>
            </a:r>
            <a:r>
              <a:rPr dirty="0" sz="4000" spc="-75">
                <a:solidFill>
                  <a:srgbClr val="000000"/>
                </a:solidFill>
              </a:rPr>
              <a:t> </a:t>
            </a:r>
            <a:r>
              <a:rPr dirty="0" sz="4000">
                <a:solidFill>
                  <a:srgbClr val="000000"/>
                </a:solidFill>
              </a:rPr>
              <a:t>HOUSE</a:t>
            </a:r>
            <a:r>
              <a:rPr dirty="0" sz="4000" spc="-85">
                <a:solidFill>
                  <a:srgbClr val="000000"/>
                </a:solidFill>
              </a:rPr>
              <a:t> </a:t>
            </a:r>
            <a:r>
              <a:rPr dirty="0" sz="4000" spc="-10">
                <a:solidFill>
                  <a:srgbClr val="000000"/>
                </a:solidFill>
              </a:rPr>
              <a:t>SOLUTION</a:t>
            </a:r>
            <a:endParaRPr sz="4000"/>
          </a:p>
        </p:txBody>
      </p:sp>
      <p:sp>
        <p:nvSpPr>
          <p:cNvPr id="6" name="object 6" descr=""/>
          <p:cNvSpPr txBox="1"/>
          <p:nvPr/>
        </p:nvSpPr>
        <p:spPr>
          <a:xfrm>
            <a:off x="474370" y="1644142"/>
            <a:ext cx="5572760" cy="2769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2000" spc="-10">
                <a:latin typeface="Carlito"/>
                <a:cs typeface="Carlito"/>
              </a:rPr>
              <a:t>Integration</a:t>
            </a:r>
            <a:r>
              <a:rPr dirty="0" sz="2000" spc="-5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of</a:t>
            </a:r>
            <a:r>
              <a:rPr dirty="0" sz="2000" spc="-5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structured</a:t>
            </a:r>
            <a:r>
              <a:rPr dirty="0" sz="2000" spc="-4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and</a:t>
            </a:r>
            <a:r>
              <a:rPr dirty="0" sz="2000" spc="-40">
                <a:latin typeface="Carlito"/>
                <a:cs typeface="Carlito"/>
              </a:rPr>
              <a:t> </a:t>
            </a:r>
            <a:r>
              <a:rPr dirty="0" sz="2000" spc="-20">
                <a:latin typeface="Carlito"/>
                <a:cs typeface="Carlito"/>
              </a:rPr>
              <a:t>semi-</a:t>
            </a:r>
            <a:r>
              <a:rPr dirty="0" sz="2000">
                <a:latin typeface="Carlito"/>
                <a:cs typeface="Carlito"/>
              </a:rPr>
              <a:t>structured</a:t>
            </a:r>
            <a:r>
              <a:rPr dirty="0" sz="2000" spc="-20">
                <a:latin typeface="Carlito"/>
                <a:cs typeface="Carlito"/>
              </a:rPr>
              <a:t> data </a:t>
            </a:r>
            <a:r>
              <a:rPr dirty="0" sz="2000">
                <a:latin typeface="Carlito"/>
                <a:cs typeface="Carlito"/>
              </a:rPr>
              <a:t>from</a:t>
            </a:r>
            <a:r>
              <a:rPr dirty="0" sz="2000" spc="-8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diverse</a:t>
            </a:r>
            <a:r>
              <a:rPr dirty="0" sz="2000" spc="-65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sources:</a:t>
            </a:r>
            <a:endParaRPr sz="2000">
              <a:latin typeface="Carlito"/>
              <a:cs typeface="Carlito"/>
            </a:endParaRPr>
          </a:p>
          <a:p>
            <a:pPr lvl="1" marL="812165" indent="-342265">
              <a:lnSpc>
                <a:spcPct val="100000"/>
              </a:lnSpc>
              <a:spcBef>
                <a:spcPts val="2400"/>
              </a:spcBef>
              <a:buFont typeface="Arial"/>
              <a:buChar char="•"/>
              <a:tabLst>
                <a:tab pos="812165" algn="l"/>
              </a:tabLst>
            </a:pPr>
            <a:r>
              <a:rPr dirty="0" sz="2000" spc="-10">
                <a:latin typeface="Carlito"/>
                <a:cs typeface="Carlito"/>
              </a:rPr>
              <a:t>Direct-</a:t>
            </a:r>
            <a:r>
              <a:rPr dirty="0" sz="2000" spc="-20">
                <a:latin typeface="Carlito"/>
                <a:cs typeface="Carlito"/>
              </a:rPr>
              <a:t>to-</a:t>
            </a:r>
            <a:r>
              <a:rPr dirty="0" sz="2000">
                <a:latin typeface="Carlito"/>
                <a:cs typeface="Carlito"/>
              </a:rPr>
              <a:t>Consumers</a:t>
            </a:r>
            <a:r>
              <a:rPr dirty="0" sz="2000" spc="-7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(DTC)</a:t>
            </a:r>
            <a:r>
              <a:rPr dirty="0" sz="2000" spc="-65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Transactions</a:t>
            </a:r>
            <a:endParaRPr sz="2000">
              <a:latin typeface="Carlito"/>
              <a:cs typeface="Carlito"/>
            </a:endParaRPr>
          </a:p>
          <a:p>
            <a:pPr lvl="1" marL="812165" indent="-342265">
              <a:lnSpc>
                <a:spcPct val="100000"/>
              </a:lnSpc>
              <a:buFont typeface="Arial"/>
              <a:buChar char="•"/>
              <a:tabLst>
                <a:tab pos="812165" algn="l"/>
              </a:tabLst>
            </a:pPr>
            <a:r>
              <a:rPr dirty="0" sz="2000" spc="-10">
                <a:latin typeface="Carlito"/>
                <a:cs typeface="Carlito"/>
              </a:rPr>
              <a:t>Marketing</a:t>
            </a:r>
            <a:r>
              <a:rPr dirty="0" sz="2000" spc="-40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Platform</a:t>
            </a:r>
            <a:endParaRPr sz="2000">
              <a:latin typeface="Carlito"/>
              <a:cs typeface="Carlito"/>
            </a:endParaRPr>
          </a:p>
          <a:p>
            <a:pPr lvl="1" marL="812165" indent="-342265">
              <a:lnSpc>
                <a:spcPct val="100000"/>
              </a:lnSpc>
              <a:buFont typeface="Arial"/>
              <a:buChar char="•"/>
              <a:tabLst>
                <a:tab pos="812165" algn="l"/>
              </a:tabLst>
            </a:pPr>
            <a:r>
              <a:rPr dirty="0" sz="2000" spc="-10">
                <a:latin typeface="Carlito"/>
                <a:cs typeface="Carlito"/>
              </a:rPr>
              <a:t>Reservation</a:t>
            </a:r>
            <a:r>
              <a:rPr dirty="0" sz="2000" spc="-35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System</a:t>
            </a:r>
            <a:endParaRPr sz="20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240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Carlito"/>
                <a:cs typeface="Carlito"/>
              </a:rPr>
              <a:t>Unified</a:t>
            </a:r>
            <a:r>
              <a:rPr dirty="0" sz="2000" spc="-45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storage</a:t>
            </a:r>
            <a:r>
              <a:rPr dirty="0" sz="2000" spc="-4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of</a:t>
            </a:r>
            <a:r>
              <a:rPr dirty="0" sz="2000" spc="-5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current</a:t>
            </a:r>
            <a:r>
              <a:rPr dirty="0" sz="2000" spc="-4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and</a:t>
            </a:r>
            <a:r>
              <a:rPr dirty="0" sz="2000" spc="-60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historical</a:t>
            </a:r>
            <a:r>
              <a:rPr dirty="0" sz="2000" spc="-2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data</a:t>
            </a:r>
            <a:r>
              <a:rPr dirty="0" sz="2000" spc="-45">
                <a:latin typeface="Carlito"/>
                <a:cs typeface="Carlito"/>
              </a:rPr>
              <a:t> </a:t>
            </a:r>
            <a:r>
              <a:rPr dirty="0" sz="2000" spc="-25">
                <a:latin typeface="Carlito"/>
                <a:cs typeface="Carlito"/>
              </a:rPr>
              <a:t>for</a:t>
            </a:r>
            <a:endParaRPr sz="20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000" spc="-10">
                <a:latin typeface="Carlito"/>
                <a:cs typeface="Carlito"/>
              </a:rPr>
              <a:t>streamlined </a:t>
            </a:r>
            <a:r>
              <a:rPr dirty="0" sz="2000">
                <a:latin typeface="Carlito"/>
                <a:cs typeface="Carlito"/>
              </a:rPr>
              <a:t>analysis</a:t>
            </a:r>
            <a:r>
              <a:rPr dirty="0" sz="2000" spc="-2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and</a:t>
            </a:r>
            <a:r>
              <a:rPr dirty="0" sz="2000" spc="-40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reporting.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1568683" y="-1523"/>
            <a:ext cx="609600" cy="204470"/>
          </a:xfrm>
          <a:custGeom>
            <a:avLst/>
            <a:gdLst/>
            <a:ahLst/>
            <a:cxnLst/>
            <a:rect l="l" t="t" r="r" b="b"/>
            <a:pathLst>
              <a:path w="609600" h="204470">
                <a:moveTo>
                  <a:pt x="0" y="204216"/>
                </a:moveTo>
                <a:lnTo>
                  <a:pt x="609600" y="204216"/>
                </a:lnTo>
                <a:lnTo>
                  <a:pt x="609600" y="0"/>
                </a:lnTo>
                <a:lnTo>
                  <a:pt x="0" y="0"/>
                </a:lnTo>
                <a:lnTo>
                  <a:pt x="0" y="204216"/>
                </a:lnTo>
                <a:close/>
              </a:path>
            </a:pathLst>
          </a:custGeom>
          <a:ln w="15874">
            <a:solidFill>
              <a:srgbClr val="1323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1817222" y="-31293"/>
            <a:ext cx="1162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 b="1">
                <a:latin typeface="Carlito"/>
                <a:cs typeface="Carlito"/>
              </a:rPr>
              <a:t>6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000000"/>
                </a:solidFill>
              </a:rPr>
              <a:t>ARCHITECTURE</a:t>
            </a:r>
            <a:r>
              <a:rPr dirty="0" sz="3200" spc="-15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1</a:t>
            </a:r>
            <a:r>
              <a:rPr dirty="0" sz="3200" spc="-35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-</a:t>
            </a:r>
            <a:r>
              <a:rPr dirty="0" sz="3200" spc="-35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SaaS</a:t>
            </a:r>
            <a:r>
              <a:rPr dirty="0" sz="3200" spc="-50">
                <a:solidFill>
                  <a:srgbClr val="000000"/>
                </a:solidFill>
              </a:rPr>
              <a:t> </a:t>
            </a:r>
            <a:r>
              <a:rPr dirty="0" sz="3200" b="0" i="1">
                <a:solidFill>
                  <a:srgbClr val="000000"/>
                </a:solidFill>
                <a:latin typeface="Carlito"/>
                <a:cs typeface="Carlito"/>
              </a:rPr>
              <a:t>(Software</a:t>
            </a:r>
            <a:r>
              <a:rPr dirty="0" sz="3200" spc="-50" b="0" i="1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dirty="0" sz="3200" b="0" i="1">
                <a:solidFill>
                  <a:srgbClr val="000000"/>
                </a:solidFill>
                <a:latin typeface="Carlito"/>
                <a:cs typeface="Carlito"/>
              </a:rPr>
              <a:t>as</a:t>
            </a:r>
            <a:r>
              <a:rPr dirty="0" sz="3200" spc="-35" b="0" i="1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dirty="0" sz="3200" b="0" i="1">
                <a:solidFill>
                  <a:srgbClr val="000000"/>
                </a:solidFill>
                <a:latin typeface="Carlito"/>
                <a:cs typeface="Carlito"/>
              </a:rPr>
              <a:t>a</a:t>
            </a:r>
            <a:r>
              <a:rPr dirty="0" sz="3200" spc="-30" b="0" i="1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dirty="0" sz="3200" spc="-10" b="0" i="1">
                <a:solidFill>
                  <a:srgbClr val="000000"/>
                </a:solidFill>
                <a:latin typeface="Carlito"/>
                <a:cs typeface="Carlito"/>
              </a:rPr>
              <a:t>Service)</a:t>
            </a:r>
            <a:endParaRPr sz="3200">
              <a:latin typeface="Carlito"/>
              <a:cs typeface="Carlito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954022"/>
            <a:ext cx="10784205" cy="5808345"/>
            <a:chOff x="0" y="954022"/>
            <a:chExt cx="10784205" cy="5808345"/>
          </a:xfrm>
        </p:grpSpPr>
        <p:sp>
          <p:nvSpPr>
            <p:cNvPr id="4" name="object 4" descr=""/>
            <p:cNvSpPr/>
            <p:nvPr/>
          </p:nvSpPr>
          <p:spPr>
            <a:xfrm>
              <a:off x="0" y="1144333"/>
              <a:ext cx="796925" cy="85725"/>
            </a:xfrm>
            <a:custGeom>
              <a:avLst/>
              <a:gdLst/>
              <a:ahLst/>
              <a:cxnLst/>
              <a:rect l="l" t="t" r="r" b="b"/>
              <a:pathLst>
                <a:path w="796925" h="85725">
                  <a:moveTo>
                    <a:pt x="796569" y="0"/>
                  </a:moveTo>
                  <a:lnTo>
                    <a:pt x="0" y="0"/>
                  </a:lnTo>
                  <a:lnTo>
                    <a:pt x="0" y="85725"/>
                  </a:lnTo>
                  <a:lnTo>
                    <a:pt x="796569" y="85725"/>
                  </a:lnTo>
                  <a:lnTo>
                    <a:pt x="7965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672" y="954022"/>
              <a:ext cx="9979152" cy="5807962"/>
            </a:xfrm>
            <a:prstGeom prst="rect">
              <a:avLst/>
            </a:prstGeom>
          </p:spPr>
        </p:pic>
      </p:grpSp>
      <p:sp>
        <p:nvSpPr>
          <p:cNvPr id="6" name="object 6" descr=""/>
          <p:cNvSpPr/>
          <p:nvPr/>
        </p:nvSpPr>
        <p:spPr>
          <a:xfrm>
            <a:off x="11582400" y="0"/>
            <a:ext cx="609600" cy="200025"/>
          </a:xfrm>
          <a:custGeom>
            <a:avLst/>
            <a:gdLst/>
            <a:ahLst/>
            <a:cxnLst/>
            <a:rect l="l" t="t" r="r" b="b"/>
            <a:pathLst>
              <a:path w="609600" h="200025">
                <a:moveTo>
                  <a:pt x="0" y="199644"/>
                </a:moveTo>
                <a:lnTo>
                  <a:pt x="609600" y="199644"/>
                </a:lnTo>
                <a:lnTo>
                  <a:pt x="609600" y="0"/>
                </a:lnTo>
              </a:path>
              <a:path w="609600" h="200025">
                <a:moveTo>
                  <a:pt x="0" y="0"/>
                </a:moveTo>
                <a:lnTo>
                  <a:pt x="0" y="199644"/>
                </a:lnTo>
              </a:path>
            </a:pathLst>
          </a:custGeom>
          <a:ln w="15875">
            <a:solidFill>
              <a:srgbClr val="1323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830939" y="-33401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latin typeface="Carlito"/>
                <a:cs typeface="Carlito"/>
              </a:rPr>
              <a:t>7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144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000000"/>
                </a:solidFill>
              </a:rPr>
              <a:t>ARCHITECTURE</a:t>
            </a:r>
            <a:r>
              <a:rPr dirty="0" sz="3200" spc="-30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2</a:t>
            </a:r>
            <a:r>
              <a:rPr dirty="0" sz="3200" spc="-65">
                <a:solidFill>
                  <a:srgbClr val="000000"/>
                </a:solidFill>
              </a:rPr>
              <a:t> </a:t>
            </a:r>
            <a:r>
              <a:rPr dirty="0" sz="3200" spc="130">
                <a:solidFill>
                  <a:srgbClr val="000000"/>
                </a:solidFill>
                <a:latin typeface="Liberation Sans Narrow"/>
                <a:cs typeface="Liberation Sans Narrow"/>
              </a:rPr>
              <a:t>–</a:t>
            </a:r>
            <a:r>
              <a:rPr dirty="0" sz="3200" spc="-45">
                <a:solidFill>
                  <a:srgbClr val="000000"/>
                </a:solidFill>
                <a:latin typeface="Liberation Sans Narrow"/>
                <a:cs typeface="Liberation Sans Narrow"/>
              </a:rPr>
              <a:t> </a:t>
            </a:r>
            <a:r>
              <a:rPr dirty="0" sz="3200">
                <a:solidFill>
                  <a:srgbClr val="000000"/>
                </a:solidFill>
              </a:rPr>
              <a:t>PaaS</a:t>
            </a:r>
            <a:r>
              <a:rPr dirty="0" sz="3200" spc="-80">
                <a:solidFill>
                  <a:srgbClr val="000000"/>
                </a:solidFill>
              </a:rPr>
              <a:t> </a:t>
            </a:r>
            <a:r>
              <a:rPr dirty="0" sz="3200" b="0" i="1">
                <a:solidFill>
                  <a:srgbClr val="000000"/>
                </a:solidFill>
                <a:latin typeface="Carlito"/>
                <a:cs typeface="Carlito"/>
              </a:rPr>
              <a:t>(Platform</a:t>
            </a:r>
            <a:r>
              <a:rPr dirty="0" sz="3200" spc="-45" b="0" i="1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dirty="0" sz="3200" b="0" i="1">
                <a:solidFill>
                  <a:srgbClr val="000000"/>
                </a:solidFill>
                <a:latin typeface="Carlito"/>
                <a:cs typeface="Carlito"/>
              </a:rPr>
              <a:t>as</a:t>
            </a:r>
            <a:r>
              <a:rPr dirty="0" sz="3200" spc="-30" b="0" i="1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dirty="0" sz="3200" b="0" i="1">
                <a:solidFill>
                  <a:srgbClr val="000000"/>
                </a:solidFill>
                <a:latin typeface="Carlito"/>
                <a:cs typeface="Carlito"/>
              </a:rPr>
              <a:t>a</a:t>
            </a:r>
            <a:r>
              <a:rPr dirty="0" sz="3200" spc="-45" b="0" i="1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dirty="0" sz="3200" spc="-10" b="0" i="1">
                <a:solidFill>
                  <a:srgbClr val="000000"/>
                </a:solidFill>
                <a:latin typeface="Carlito"/>
                <a:cs typeface="Carlito"/>
              </a:rPr>
              <a:t>Service)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0" y="1144333"/>
            <a:ext cx="796925" cy="85725"/>
          </a:xfrm>
          <a:custGeom>
            <a:avLst/>
            <a:gdLst/>
            <a:ahLst/>
            <a:cxnLst/>
            <a:rect l="l" t="t" r="r" b="b"/>
            <a:pathLst>
              <a:path w="796925" h="85725">
                <a:moveTo>
                  <a:pt x="796569" y="0"/>
                </a:moveTo>
                <a:lnTo>
                  <a:pt x="0" y="0"/>
                </a:lnTo>
                <a:lnTo>
                  <a:pt x="0" y="85725"/>
                </a:lnTo>
                <a:lnTo>
                  <a:pt x="796569" y="85725"/>
                </a:lnTo>
                <a:lnTo>
                  <a:pt x="7965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1582400" y="0"/>
            <a:ext cx="609600" cy="200025"/>
          </a:xfrm>
          <a:custGeom>
            <a:avLst/>
            <a:gdLst/>
            <a:ahLst/>
            <a:cxnLst/>
            <a:rect l="l" t="t" r="r" b="b"/>
            <a:pathLst>
              <a:path w="609600" h="200025">
                <a:moveTo>
                  <a:pt x="0" y="199644"/>
                </a:moveTo>
                <a:lnTo>
                  <a:pt x="609600" y="199644"/>
                </a:lnTo>
                <a:lnTo>
                  <a:pt x="609600" y="0"/>
                </a:lnTo>
              </a:path>
              <a:path w="609600" h="200025">
                <a:moveTo>
                  <a:pt x="0" y="0"/>
                </a:moveTo>
                <a:lnTo>
                  <a:pt x="0" y="199644"/>
                </a:lnTo>
              </a:path>
            </a:pathLst>
          </a:custGeom>
          <a:ln w="15875">
            <a:solidFill>
              <a:srgbClr val="1323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830939" y="-33781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latin typeface="Carlito"/>
                <a:cs typeface="Carlito"/>
              </a:rPr>
              <a:t>8</a:t>
            </a:r>
            <a:endParaRPr sz="1400">
              <a:latin typeface="Carlito"/>
              <a:cs typeface="Carlito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255" y="967738"/>
            <a:ext cx="9704640" cy="57637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2439" y="2777439"/>
            <a:ext cx="4894580" cy="11233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-10">
                <a:solidFill>
                  <a:srgbClr val="000000"/>
                </a:solidFill>
              </a:rPr>
              <a:t>EXTRACTION</a:t>
            </a:r>
            <a:endParaRPr sz="7200"/>
          </a:p>
        </p:txBody>
      </p:sp>
      <p:sp>
        <p:nvSpPr>
          <p:cNvPr id="3" name="object 3" descr=""/>
          <p:cNvSpPr/>
          <p:nvPr/>
        </p:nvSpPr>
        <p:spPr>
          <a:xfrm>
            <a:off x="0" y="1142809"/>
            <a:ext cx="796925" cy="85725"/>
          </a:xfrm>
          <a:custGeom>
            <a:avLst/>
            <a:gdLst/>
            <a:ahLst/>
            <a:cxnLst/>
            <a:rect l="l" t="t" r="r" b="b"/>
            <a:pathLst>
              <a:path w="796925" h="85725">
                <a:moveTo>
                  <a:pt x="796569" y="0"/>
                </a:moveTo>
                <a:lnTo>
                  <a:pt x="0" y="0"/>
                </a:lnTo>
                <a:lnTo>
                  <a:pt x="0" y="85725"/>
                </a:lnTo>
                <a:lnTo>
                  <a:pt x="796569" y="85725"/>
                </a:lnTo>
                <a:lnTo>
                  <a:pt x="7965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1582400" y="0"/>
            <a:ext cx="609600" cy="200025"/>
          </a:xfrm>
          <a:custGeom>
            <a:avLst/>
            <a:gdLst/>
            <a:ahLst/>
            <a:cxnLst/>
            <a:rect l="l" t="t" r="r" b="b"/>
            <a:pathLst>
              <a:path w="609600" h="200025">
                <a:moveTo>
                  <a:pt x="0" y="199644"/>
                </a:moveTo>
                <a:lnTo>
                  <a:pt x="609600" y="199644"/>
                </a:lnTo>
                <a:lnTo>
                  <a:pt x="609600" y="0"/>
                </a:lnTo>
              </a:path>
              <a:path w="609600" h="200025">
                <a:moveTo>
                  <a:pt x="0" y="0"/>
                </a:moveTo>
                <a:lnTo>
                  <a:pt x="0" y="199644"/>
                </a:lnTo>
              </a:path>
            </a:pathLst>
          </a:custGeom>
          <a:ln w="15875">
            <a:solidFill>
              <a:srgbClr val="1323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830939" y="-33781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latin typeface="Carlito"/>
                <a:cs typeface="Carlito"/>
              </a:rPr>
              <a:t>9</a:t>
            </a:r>
            <a:endParaRPr sz="1400">
              <a:latin typeface="Carlito"/>
              <a:cs typeface="Carlito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4668" y="1623733"/>
            <a:ext cx="3165396" cy="37001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5925" rIns="0" bIns="0" rtlCol="0" vert="horz">
            <a:spAutoFit/>
          </a:bodyPr>
          <a:lstStyle/>
          <a:p>
            <a:pPr marL="527050">
              <a:lnSpc>
                <a:spcPct val="100000"/>
              </a:lnSpc>
              <a:spcBef>
                <a:spcPts val="95"/>
              </a:spcBef>
            </a:pPr>
            <a:r>
              <a:rPr dirty="0" sz="4000" spc="-95">
                <a:solidFill>
                  <a:srgbClr val="000000"/>
                </a:solidFill>
              </a:rPr>
              <a:t>DATASETS</a:t>
            </a:r>
            <a:endParaRPr sz="4000"/>
          </a:p>
        </p:txBody>
      </p:sp>
      <p:sp>
        <p:nvSpPr>
          <p:cNvPr id="3" name="object 3" descr=""/>
          <p:cNvSpPr/>
          <p:nvPr/>
        </p:nvSpPr>
        <p:spPr>
          <a:xfrm>
            <a:off x="-1523" y="1185672"/>
            <a:ext cx="804545" cy="0"/>
          </a:xfrm>
          <a:custGeom>
            <a:avLst/>
            <a:gdLst/>
            <a:ahLst/>
            <a:cxnLst/>
            <a:rect l="l" t="t" r="r" b="b"/>
            <a:pathLst>
              <a:path w="804545" h="0">
                <a:moveTo>
                  <a:pt x="0" y="0"/>
                </a:moveTo>
                <a:lnTo>
                  <a:pt x="804189" y="0"/>
                </a:lnTo>
              </a:path>
            </a:pathLst>
          </a:custGeom>
          <a:ln w="857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8653373" y="3219887"/>
            <a:ext cx="1605915" cy="3008630"/>
            <a:chOff x="8653373" y="3219887"/>
            <a:chExt cx="1605915" cy="3008630"/>
          </a:xfrm>
        </p:grpSpPr>
        <p:sp>
          <p:nvSpPr>
            <p:cNvPr id="5" name="object 5" descr=""/>
            <p:cNvSpPr/>
            <p:nvPr/>
          </p:nvSpPr>
          <p:spPr>
            <a:xfrm>
              <a:off x="8675309" y="3241822"/>
              <a:ext cx="1562100" cy="2964815"/>
            </a:xfrm>
            <a:custGeom>
              <a:avLst/>
              <a:gdLst/>
              <a:ahLst/>
              <a:cxnLst/>
              <a:rect l="l" t="t" r="r" b="b"/>
              <a:pathLst>
                <a:path w="1562100" h="2964815">
                  <a:moveTo>
                    <a:pt x="1479247" y="0"/>
                  </a:moveTo>
                  <a:lnTo>
                    <a:pt x="97615" y="0"/>
                  </a:lnTo>
                  <a:lnTo>
                    <a:pt x="0" y="1172285"/>
                  </a:lnTo>
                  <a:lnTo>
                    <a:pt x="7771" y="1246098"/>
                  </a:lnTo>
                  <a:lnTo>
                    <a:pt x="20949" y="1282756"/>
                  </a:lnTo>
                  <a:lnTo>
                    <a:pt x="39646" y="1318980"/>
                  </a:lnTo>
                  <a:lnTo>
                    <a:pt x="63356" y="1354569"/>
                  </a:lnTo>
                  <a:lnTo>
                    <a:pt x="91570" y="1389321"/>
                  </a:lnTo>
                  <a:lnTo>
                    <a:pt x="123783" y="1423035"/>
                  </a:lnTo>
                  <a:lnTo>
                    <a:pt x="159488" y="1455510"/>
                  </a:lnTo>
                  <a:lnTo>
                    <a:pt x="198178" y="1486543"/>
                  </a:lnTo>
                  <a:lnTo>
                    <a:pt x="239345" y="1515935"/>
                  </a:lnTo>
                  <a:lnTo>
                    <a:pt x="282483" y="1543483"/>
                  </a:lnTo>
                  <a:lnTo>
                    <a:pt x="327086" y="1568987"/>
                  </a:lnTo>
                  <a:lnTo>
                    <a:pt x="372646" y="1592244"/>
                  </a:lnTo>
                  <a:lnTo>
                    <a:pt x="418657" y="1613053"/>
                  </a:lnTo>
                  <a:lnTo>
                    <a:pt x="464611" y="1631214"/>
                  </a:lnTo>
                  <a:lnTo>
                    <a:pt x="510002" y="1646524"/>
                  </a:lnTo>
                  <a:lnTo>
                    <a:pt x="554323" y="1658782"/>
                  </a:lnTo>
                  <a:lnTo>
                    <a:pt x="597068" y="1667788"/>
                  </a:lnTo>
                  <a:lnTo>
                    <a:pt x="637728" y="1673339"/>
                  </a:lnTo>
                  <a:lnTo>
                    <a:pt x="675798" y="1675234"/>
                  </a:lnTo>
                  <a:lnTo>
                    <a:pt x="675798" y="2556339"/>
                  </a:lnTo>
                  <a:lnTo>
                    <a:pt x="664007" y="2593268"/>
                  </a:lnTo>
                  <a:lnTo>
                    <a:pt x="632153" y="2624880"/>
                  </a:lnTo>
                  <a:lnTo>
                    <a:pt x="585516" y="2651528"/>
                  </a:lnTo>
                  <a:lnTo>
                    <a:pt x="529375" y="2673567"/>
                  </a:lnTo>
                  <a:lnTo>
                    <a:pt x="420966" y="2689166"/>
                  </a:lnTo>
                  <a:lnTo>
                    <a:pt x="371513" y="2697498"/>
                  </a:lnTo>
                  <a:lnTo>
                    <a:pt x="326636" y="2707601"/>
                  </a:lnTo>
                  <a:lnTo>
                    <a:pt x="322881" y="2707601"/>
                  </a:lnTo>
                  <a:lnTo>
                    <a:pt x="257648" y="2728873"/>
                  </a:lnTo>
                  <a:lnTo>
                    <a:pt x="209310" y="2752980"/>
                  </a:lnTo>
                  <a:lnTo>
                    <a:pt x="179274" y="2779924"/>
                  </a:lnTo>
                  <a:lnTo>
                    <a:pt x="168949" y="2809704"/>
                  </a:lnTo>
                  <a:lnTo>
                    <a:pt x="173068" y="2828034"/>
                  </a:lnTo>
                  <a:lnTo>
                    <a:pt x="204636" y="2862529"/>
                  </a:lnTo>
                  <a:lnTo>
                    <a:pt x="264247" y="2893418"/>
                  </a:lnTo>
                  <a:lnTo>
                    <a:pt x="303420" y="2907242"/>
                  </a:lnTo>
                  <a:lnTo>
                    <a:pt x="348224" y="2919842"/>
                  </a:lnTo>
                  <a:lnTo>
                    <a:pt x="398200" y="2931111"/>
                  </a:lnTo>
                  <a:lnTo>
                    <a:pt x="452888" y="2940941"/>
                  </a:lnTo>
                  <a:lnTo>
                    <a:pt x="511829" y="2949225"/>
                  </a:lnTo>
                  <a:lnTo>
                    <a:pt x="574563" y="2955855"/>
                  </a:lnTo>
                  <a:lnTo>
                    <a:pt x="640629" y="2960724"/>
                  </a:lnTo>
                  <a:lnTo>
                    <a:pt x="709569" y="2963724"/>
                  </a:lnTo>
                  <a:lnTo>
                    <a:pt x="780923" y="2964748"/>
                  </a:lnTo>
                  <a:lnTo>
                    <a:pt x="851583" y="2963724"/>
                  </a:lnTo>
                  <a:lnTo>
                    <a:pt x="920034" y="2960724"/>
                  </a:lnTo>
                  <a:lnTo>
                    <a:pt x="985793" y="2955855"/>
                  </a:lnTo>
                  <a:lnTo>
                    <a:pt x="1048374" y="2949225"/>
                  </a:lnTo>
                  <a:lnTo>
                    <a:pt x="1107295" y="2940941"/>
                  </a:lnTo>
                  <a:lnTo>
                    <a:pt x="1162069" y="2931111"/>
                  </a:lnTo>
                  <a:lnTo>
                    <a:pt x="1212214" y="2919842"/>
                  </a:lnTo>
                  <a:lnTo>
                    <a:pt x="1257244" y="2907242"/>
                  </a:lnTo>
                  <a:lnTo>
                    <a:pt x="1296675" y="2893418"/>
                  </a:lnTo>
                  <a:lnTo>
                    <a:pt x="1356803" y="2862529"/>
                  </a:lnTo>
                  <a:lnTo>
                    <a:pt x="1388724" y="2828034"/>
                  </a:lnTo>
                  <a:lnTo>
                    <a:pt x="1392896" y="2809704"/>
                  </a:lnTo>
                  <a:lnTo>
                    <a:pt x="1377761" y="2782110"/>
                  </a:lnTo>
                  <a:lnTo>
                    <a:pt x="1345027" y="2756289"/>
                  </a:lnTo>
                  <a:lnTo>
                    <a:pt x="1296806" y="2732595"/>
                  </a:lnTo>
                  <a:lnTo>
                    <a:pt x="1235210" y="2711383"/>
                  </a:lnTo>
                  <a:lnTo>
                    <a:pt x="1188631" y="2700216"/>
                  </a:lnTo>
                  <a:lnTo>
                    <a:pt x="1138533" y="2690112"/>
                  </a:lnTo>
                  <a:lnTo>
                    <a:pt x="1084211" y="2682135"/>
                  </a:lnTo>
                  <a:lnTo>
                    <a:pt x="1024961" y="2677349"/>
                  </a:lnTo>
                  <a:lnTo>
                    <a:pt x="967237" y="2654778"/>
                  </a:lnTo>
                  <a:lnTo>
                    <a:pt x="920775" y="2627243"/>
                  </a:lnTo>
                  <a:lnTo>
                    <a:pt x="889801" y="2595454"/>
                  </a:lnTo>
                  <a:lnTo>
                    <a:pt x="878538" y="2560120"/>
                  </a:lnTo>
                  <a:lnTo>
                    <a:pt x="878538" y="1675234"/>
                  </a:lnTo>
                  <a:lnTo>
                    <a:pt x="917197" y="1673366"/>
                  </a:lnTo>
                  <a:lnTo>
                    <a:pt x="958492" y="1667890"/>
                  </a:lnTo>
                  <a:lnTo>
                    <a:pt x="1001905" y="1658999"/>
                  </a:lnTo>
                  <a:lnTo>
                    <a:pt x="1046917" y="1646887"/>
                  </a:lnTo>
                  <a:lnTo>
                    <a:pt x="1093010" y="1631746"/>
                  </a:lnTo>
                  <a:lnTo>
                    <a:pt x="1139666" y="1613768"/>
                  </a:lnTo>
                  <a:lnTo>
                    <a:pt x="1186368" y="1593147"/>
                  </a:lnTo>
                  <a:lnTo>
                    <a:pt x="1232596" y="1570076"/>
                  </a:lnTo>
                  <a:lnTo>
                    <a:pt x="1277833" y="1544747"/>
                  </a:lnTo>
                  <a:lnTo>
                    <a:pt x="1321561" y="1517353"/>
                  </a:lnTo>
                  <a:lnTo>
                    <a:pt x="1363262" y="1488088"/>
                  </a:lnTo>
                  <a:lnTo>
                    <a:pt x="1402417" y="1457143"/>
                  </a:lnTo>
                  <a:lnTo>
                    <a:pt x="1438508" y="1424712"/>
                  </a:lnTo>
                  <a:lnTo>
                    <a:pt x="1471018" y="1390988"/>
                  </a:lnTo>
                  <a:lnTo>
                    <a:pt x="1499428" y="1356164"/>
                  </a:lnTo>
                  <a:lnTo>
                    <a:pt x="1523220" y="1320432"/>
                  </a:lnTo>
                  <a:lnTo>
                    <a:pt x="1541875" y="1283985"/>
                  </a:lnTo>
                  <a:lnTo>
                    <a:pt x="1554877" y="1247017"/>
                  </a:lnTo>
                  <a:lnTo>
                    <a:pt x="1561845" y="1172285"/>
                  </a:lnTo>
                  <a:lnTo>
                    <a:pt x="1525875" y="661774"/>
                  </a:lnTo>
                  <a:lnTo>
                    <a:pt x="210248" y="661774"/>
                  </a:lnTo>
                  <a:lnTo>
                    <a:pt x="244038" y="170170"/>
                  </a:lnTo>
                  <a:lnTo>
                    <a:pt x="1491238" y="170170"/>
                  </a:lnTo>
                  <a:lnTo>
                    <a:pt x="1479247" y="0"/>
                  </a:lnTo>
                  <a:close/>
                </a:path>
                <a:path w="1562100" h="2964815">
                  <a:moveTo>
                    <a:pt x="1491238" y="170170"/>
                  </a:moveTo>
                  <a:lnTo>
                    <a:pt x="1310298" y="170170"/>
                  </a:lnTo>
                  <a:lnTo>
                    <a:pt x="1336579" y="661774"/>
                  </a:lnTo>
                  <a:lnTo>
                    <a:pt x="1525875" y="661774"/>
                  </a:lnTo>
                  <a:lnTo>
                    <a:pt x="1491238" y="170170"/>
                  </a:lnTo>
                  <a:close/>
                </a:path>
              </a:pathLst>
            </a:custGeom>
            <a:solidFill>
              <a:srgbClr val="3A5F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675309" y="3241823"/>
              <a:ext cx="1562100" cy="2964815"/>
            </a:xfrm>
            <a:custGeom>
              <a:avLst/>
              <a:gdLst/>
              <a:ahLst/>
              <a:cxnLst/>
              <a:rect l="l" t="t" r="r" b="b"/>
              <a:pathLst>
                <a:path w="1562100" h="2964815">
                  <a:moveTo>
                    <a:pt x="244038" y="170170"/>
                  </a:moveTo>
                  <a:lnTo>
                    <a:pt x="1310298" y="170170"/>
                  </a:lnTo>
                  <a:lnTo>
                    <a:pt x="1336579" y="661774"/>
                  </a:lnTo>
                  <a:lnTo>
                    <a:pt x="210248" y="661774"/>
                  </a:lnTo>
                  <a:lnTo>
                    <a:pt x="244038" y="170170"/>
                  </a:lnTo>
                  <a:close/>
                </a:path>
                <a:path w="1562100" h="2964815">
                  <a:moveTo>
                    <a:pt x="1235210" y="2711383"/>
                  </a:moveTo>
                  <a:lnTo>
                    <a:pt x="1188631" y="2700215"/>
                  </a:lnTo>
                  <a:lnTo>
                    <a:pt x="1138533" y="2690112"/>
                  </a:lnTo>
                  <a:lnTo>
                    <a:pt x="1084211" y="2682135"/>
                  </a:lnTo>
                  <a:lnTo>
                    <a:pt x="1024961" y="2677349"/>
                  </a:lnTo>
                  <a:lnTo>
                    <a:pt x="967237" y="2654778"/>
                  </a:lnTo>
                  <a:lnTo>
                    <a:pt x="920775" y="2627243"/>
                  </a:lnTo>
                  <a:lnTo>
                    <a:pt x="889801" y="2595454"/>
                  </a:lnTo>
                  <a:lnTo>
                    <a:pt x="878538" y="2560120"/>
                  </a:lnTo>
                  <a:lnTo>
                    <a:pt x="878538" y="1675234"/>
                  </a:lnTo>
                  <a:lnTo>
                    <a:pt x="917197" y="1673366"/>
                  </a:lnTo>
                  <a:lnTo>
                    <a:pt x="958492" y="1667890"/>
                  </a:lnTo>
                  <a:lnTo>
                    <a:pt x="1001905" y="1658999"/>
                  </a:lnTo>
                  <a:lnTo>
                    <a:pt x="1046917" y="1646887"/>
                  </a:lnTo>
                  <a:lnTo>
                    <a:pt x="1093010" y="1631746"/>
                  </a:lnTo>
                  <a:lnTo>
                    <a:pt x="1139666" y="1613768"/>
                  </a:lnTo>
                  <a:lnTo>
                    <a:pt x="1186368" y="1593147"/>
                  </a:lnTo>
                  <a:lnTo>
                    <a:pt x="1232596" y="1570076"/>
                  </a:lnTo>
                  <a:lnTo>
                    <a:pt x="1277834" y="1544747"/>
                  </a:lnTo>
                  <a:lnTo>
                    <a:pt x="1321561" y="1517353"/>
                  </a:lnTo>
                  <a:lnTo>
                    <a:pt x="1363262" y="1488088"/>
                  </a:lnTo>
                  <a:lnTo>
                    <a:pt x="1402417" y="1457143"/>
                  </a:lnTo>
                  <a:lnTo>
                    <a:pt x="1438508" y="1424712"/>
                  </a:lnTo>
                  <a:lnTo>
                    <a:pt x="1471018" y="1390988"/>
                  </a:lnTo>
                  <a:lnTo>
                    <a:pt x="1499428" y="1356164"/>
                  </a:lnTo>
                  <a:lnTo>
                    <a:pt x="1523220" y="1320432"/>
                  </a:lnTo>
                  <a:lnTo>
                    <a:pt x="1541876" y="1283985"/>
                  </a:lnTo>
                  <a:lnTo>
                    <a:pt x="1554877" y="1247017"/>
                  </a:lnTo>
                  <a:lnTo>
                    <a:pt x="1561845" y="1172285"/>
                  </a:lnTo>
                  <a:lnTo>
                    <a:pt x="1479248" y="0"/>
                  </a:lnTo>
                  <a:lnTo>
                    <a:pt x="97615" y="0"/>
                  </a:lnTo>
                  <a:lnTo>
                    <a:pt x="0" y="1172285"/>
                  </a:lnTo>
                  <a:lnTo>
                    <a:pt x="7771" y="1246098"/>
                  </a:lnTo>
                  <a:lnTo>
                    <a:pt x="20949" y="1282756"/>
                  </a:lnTo>
                  <a:lnTo>
                    <a:pt x="39646" y="1318980"/>
                  </a:lnTo>
                  <a:lnTo>
                    <a:pt x="63356" y="1354569"/>
                  </a:lnTo>
                  <a:lnTo>
                    <a:pt x="91570" y="1389321"/>
                  </a:lnTo>
                  <a:lnTo>
                    <a:pt x="123783" y="1423035"/>
                  </a:lnTo>
                  <a:lnTo>
                    <a:pt x="159488" y="1455509"/>
                  </a:lnTo>
                  <a:lnTo>
                    <a:pt x="198178" y="1486543"/>
                  </a:lnTo>
                  <a:lnTo>
                    <a:pt x="239345" y="1515935"/>
                  </a:lnTo>
                  <a:lnTo>
                    <a:pt x="282483" y="1543483"/>
                  </a:lnTo>
                  <a:lnTo>
                    <a:pt x="327086" y="1568987"/>
                  </a:lnTo>
                  <a:lnTo>
                    <a:pt x="372646" y="1592244"/>
                  </a:lnTo>
                  <a:lnTo>
                    <a:pt x="418657" y="1613053"/>
                  </a:lnTo>
                  <a:lnTo>
                    <a:pt x="464611" y="1631214"/>
                  </a:lnTo>
                  <a:lnTo>
                    <a:pt x="510002" y="1646524"/>
                  </a:lnTo>
                  <a:lnTo>
                    <a:pt x="554323" y="1658782"/>
                  </a:lnTo>
                  <a:lnTo>
                    <a:pt x="597068" y="1667788"/>
                  </a:lnTo>
                  <a:lnTo>
                    <a:pt x="637728" y="1673339"/>
                  </a:lnTo>
                  <a:lnTo>
                    <a:pt x="675798" y="1675234"/>
                  </a:lnTo>
                  <a:lnTo>
                    <a:pt x="675798" y="2556339"/>
                  </a:lnTo>
                  <a:lnTo>
                    <a:pt x="664007" y="2593268"/>
                  </a:lnTo>
                  <a:lnTo>
                    <a:pt x="632153" y="2624880"/>
                  </a:lnTo>
                  <a:lnTo>
                    <a:pt x="585516" y="2651528"/>
                  </a:lnTo>
                  <a:lnTo>
                    <a:pt x="529375" y="2673567"/>
                  </a:lnTo>
                  <a:lnTo>
                    <a:pt x="473939" y="2681544"/>
                  </a:lnTo>
                  <a:lnTo>
                    <a:pt x="420966" y="2689166"/>
                  </a:lnTo>
                  <a:lnTo>
                    <a:pt x="371513" y="2697497"/>
                  </a:lnTo>
                  <a:lnTo>
                    <a:pt x="326636" y="2707601"/>
                  </a:lnTo>
                  <a:lnTo>
                    <a:pt x="322881" y="2707601"/>
                  </a:lnTo>
                  <a:lnTo>
                    <a:pt x="257648" y="2728873"/>
                  </a:lnTo>
                  <a:lnTo>
                    <a:pt x="209310" y="2752980"/>
                  </a:lnTo>
                  <a:lnTo>
                    <a:pt x="179274" y="2779924"/>
                  </a:lnTo>
                  <a:lnTo>
                    <a:pt x="168949" y="2809704"/>
                  </a:lnTo>
                  <a:lnTo>
                    <a:pt x="173068" y="2828034"/>
                  </a:lnTo>
                  <a:lnTo>
                    <a:pt x="204636" y="2862528"/>
                  </a:lnTo>
                  <a:lnTo>
                    <a:pt x="264247" y="2893418"/>
                  </a:lnTo>
                  <a:lnTo>
                    <a:pt x="303420" y="2907242"/>
                  </a:lnTo>
                  <a:lnTo>
                    <a:pt x="348224" y="2919842"/>
                  </a:lnTo>
                  <a:lnTo>
                    <a:pt x="398200" y="2931111"/>
                  </a:lnTo>
                  <a:lnTo>
                    <a:pt x="452888" y="2940941"/>
                  </a:lnTo>
                  <a:lnTo>
                    <a:pt x="511829" y="2949225"/>
                  </a:lnTo>
                  <a:lnTo>
                    <a:pt x="574563" y="2955855"/>
                  </a:lnTo>
                  <a:lnTo>
                    <a:pt x="640629" y="2960724"/>
                  </a:lnTo>
                  <a:lnTo>
                    <a:pt x="709569" y="2963724"/>
                  </a:lnTo>
                  <a:lnTo>
                    <a:pt x="780923" y="2964748"/>
                  </a:lnTo>
                  <a:lnTo>
                    <a:pt x="851583" y="2963724"/>
                  </a:lnTo>
                  <a:lnTo>
                    <a:pt x="920034" y="2960724"/>
                  </a:lnTo>
                  <a:lnTo>
                    <a:pt x="985793" y="2955855"/>
                  </a:lnTo>
                  <a:lnTo>
                    <a:pt x="1048374" y="2949225"/>
                  </a:lnTo>
                  <a:lnTo>
                    <a:pt x="1107295" y="2940941"/>
                  </a:lnTo>
                  <a:lnTo>
                    <a:pt x="1162069" y="2931111"/>
                  </a:lnTo>
                  <a:lnTo>
                    <a:pt x="1212214" y="2919842"/>
                  </a:lnTo>
                  <a:lnTo>
                    <a:pt x="1257244" y="2907242"/>
                  </a:lnTo>
                  <a:lnTo>
                    <a:pt x="1296675" y="2893418"/>
                  </a:lnTo>
                  <a:lnTo>
                    <a:pt x="1356803" y="2862528"/>
                  </a:lnTo>
                  <a:lnTo>
                    <a:pt x="1388724" y="2828034"/>
                  </a:lnTo>
                  <a:lnTo>
                    <a:pt x="1392896" y="2809704"/>
                  </a:lnTo>
                  <a:lnTo>
                    <a:pt x="1377761" y="2782110"/>
                  </a:lnTo>
                  <a:lnTo>
                    <a:pt x="1345027" y="2756289"/>
                  </a:lnTo>
                  <a:lnTo>
                    <a:pt x="1296806" y="2732595"/>
                  </a:lnTo>
                  <a:lnTo>
                    <a:pt x="1235210" y="2711383"/>
                  </a:lnTo>
                  <a:close/>
                </a:path>
              </a:pathLst>
            </a:custGeom>
            <a:ln w="43960">
              <a:solidFill>
                <a:srgbClr val="3A5F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6994" y="1365341"/>
            <a:ext cx="1552621" cy="80083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48808" y="1455491"/>
            <a:ext cx="1557510" cy="271152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74675" y="1756663"/>
            <a:ext cx="6684645" cy="3074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 spc="-35">
                <a:latin typeface="Carlito"/>
                <a:cs typeface="Carlito"/>
              </a:rPr>
              <a:t>Tock</a:t>
            </a:r>
            <a:r>
              <a:rPr dirty="0" sz="2000" spc="15">
                <a:latin typeface="Carlito"/>
                <a:cs typeface="Carlito"/>
              </a:rPr>
              <a:t> </a:t>
            </a:r>
            <a:r>
              <a:rPr dirty="0" sz="2000" spc="-110">
                <a:latin typeface="Trebuchet MS"/>
                <a:cs typeface="Trebuchet MS"/>
              </a:rPr>
              <a:t>(Transactions</a:t>
            </a:r>
            <a:r>
              <a:rPr dirty="0" sz="2000" spc="-120">
                <a:latin typeface="Trebuchet MS"/>
                <a:cs typeface="Trebuchet MS"/>
              </a:rPr>
              <a:t> </a:t>
            </a:r>
            <a:r>
              <a:rPr dirty="0" sz="2000" spc="-65">
                <a:latin typeface="Trebuchet MS"/>
                <a:cs typeface="Trebuchet MS"/>
              </a:rPr>
              <a:t>&amp;</a:t>
            </a:r>
            <a:r>
              <a:rPr dirty="0" sz="2000" spc="-135">
                <a:latin typeface="Trebuchet MS"/>
                <a:cs typeface="Trebuchet MS"/>
              </a:rPr>
              <a:t> </a:t>
            </a:r>
            <a:r>
              <a:rPr dirty="0" sz="2000" spc="-95">
                <a:latin typeface="Trebuchet MS"/>
                <a:cs typeface="Trebuchet MS"/>
              </a:rPr>
              <a:t>Guest</a:t>
            </a:r>
            <a:r>
              <a:rPr dirty="0" sz="2000" spc="-13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Report)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000" spc="-10">
                <a:latin typeface="Carlito"/>
                <a:cs typeface="Carlito"/>
              </a:rPr>
              <a:t>OrderPort</a:t>
            </a:r>
            <a:r>
              <a:rPr dirty="0" sz="2000" spc="-6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(Catalog</a:t>
            </a:r>
            <a:r>
              <a:rPr dirty="0" sz="2000" spc="-5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Report,</a:t>
            </a:r>
            <a:r>
              <a:rPr dirty="0" sz="2000" spc="-6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Customer</a:t>
            </a:r>
            <a:r>
              <a:rPr dirty="0" sz="2000" spc="-4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Account,</a:t>
            </a:r>
            <a:r>
              <a:rPr dirty="0" sz="2000" spc="-7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&amp;</a:t>
            </a:r>
            <a:r>
              <a:rPr dirty="0" sz="2000" spc="-60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Ordered</a:t>
            </a:r>
            <a:endParaRPr sz="20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dirty="0" sz="2000" spc="-10">
                <a:latin typeface="Trebuchet MS"/>
                <a:cs typeface="Trebuchet MS"/>
              </a:rPr>
              <a:t>Products)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000" spc="-10">
                <a:latin typeface="Carlito"/>
                <a:cs typeface="Carlito"/>
              </a:rPr>
              <a:t>Constant</a:t>
            </a:r>
            <a:r>
              <a:rPr dirty="0" sz="2000" spc="-6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Contact</a:t>
            </a:r>
            <a:r>
              <a:rPr dirty="0" sz="2000" spc="-4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(Email</a:t>
            </a:r>
            <a:r>
              <a:rPr dirty="0" sz="2000" spc="-4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Campaigns</a:t>
            </a:r>
            <a:r>
              <a:rPr dirty="0" sz="2000" spc="-6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Report</a:t>
            </a:r>
            <a:r>
              <a:rPr dirty="0" sz="2000" spc="-5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&amp;</a:t>
            </a:r>
            <a:r>
              <a:rPr dirty="0" sz="2000" spc="-5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Contact</a:t>
            </a:r>
            <a:r>
              <a:rPr dirty="0" sz="2000" spc="-50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Export)</a:t>
            </a:r>
            <a:endParaRPr sz="2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24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Carlito"/>
                <a:cs typeface="Carlito"/>
              </a:rPr>
              <a:t>Additionally</a:t>
            </a:r>
            <a:r>
              <a:rPr dirty="0" sz="2000" spc="-5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Lists</a:t>
            </a:r>
            <a:r>
              <a:rPr dirty="0" sz="2000" spc="-2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of</a:t>
            </a:r>
            <a:r>
              <a:rPr dirty="0" sz="2000" spc="-3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Barrel</a:t>
            </a:r>
            <a:r>
              <a:rPr dirty="0" sz="2000" spc="-4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Owners</a:t>
            </a:r>
            <a:r>
              <a:rPr dirty="0" sz="2000" spc="-4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and</a:t>
            </a:r>
            <a:r>
              <a:rPr dirty="0" sz="2000" spc="-4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Wine</a:t>
            </a:r>
            <a:r>
              <a:rPr dirty="0" sz="2000" spc="-5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Club</a:t>
            </a:r>
            <a:r>
              <a:rPr dirty="0" sz="2000" spc="-45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Owners</a:t>
            </a:r>
            <a:endParaRPr sz="2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24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 spc="-10">
                <a:latin typeface="Carlito"/>
                <a:cs typeface="Carlito"/>
              </a:rPr>
              <a:t>Separate</a:t>
            </a:r>
            <a:r>
              <a:rPr dirty="0" sz="2000" spc="-5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and</a:t>
            </a:r>
            <a:r>
              <a:rPr dirty="0" sz="2000" spc="-5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propriety</a:t>
            </a:r>
            <a:r>
              <a:rPr dirty="0" sz="2000" spc="-5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data</a:t>
            </a:r>
            <a:r>
              <a:rPr dirty="0" sz="2000" spc="-5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for</a:t>
            </a:r>
            <a:r>
              <a:rPr dirty="0" sz="2000" spc="-7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each</a:t>
            </a:r>
            <a:r>
              <a:rPr dirty="0" sz="2000" spc="-55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winery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582400" y="0"/>
            <a:ext cx="609600" cy="204470"/>
          </a:xfrm>
          <a:prstGeom prst="rect">
            <a:avLst/>
          </a:prstGeom>
          <a:ln w="15875">
            <a:solidFill>
              <a:srgbClr val="13234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635">
              <a:lnSpc>
                <a:spcPts val="1550"/>
              </a:lnSpc>
            </a:pPr>
            <a:r>
              <a:rPr dirty="0" sz="1400" spc="-25" b="1">
                <a:latin typeface="Carlito"/>
                <a:cs typeface="Carlito"/>
              </a:rPr>
              <a:t>10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4443" y="811148"/>
            <a:ext cx="101219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0">
                <a:solidFill>
                  <a:srgbClr val="000000"/>
                </a:solidFill>
              </a:rPr>
              <a:t>Data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1134262" y="1995984"/>
            <a:ext cx="5266690" cy="2683510"/>
          </a:xfrm>
          <a:prstGeom prst="rect">
            <a:avLst/>
          </a:prstGeom>
        </p:spPr>
        <p:txBody>
          <a:bodyPr wrap="square" lIns="0" tIns="16891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33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>
                <a:latin typeface="Carlito"/>
                <a:cs typeface="Carlito"/>
              </a:rPr>
              <a:t>Data</a:t>
            </a:r>
            <a:r>
              <a:rPr dirty="0" sz="2000" spc="-4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was</a:t>
            </a:r>
            <a:r>
              <a:rPr dirty="0" sz="2000" spc="-3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not</a:t>
            </a:r>
            <a:r>
              <a:rPr dirty="0" sz="2000" spc="-40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cleaned</a:t>
            </a:r>
            <a:endParaRPr sz="2000">
              <a:latin typeface="Carlito"/>
              <a:cs typeface="Carlito"/>
            </a:endParaRPr>
          </a:p>
          <a:p>
            <a:pPr lvl="1" marL="515620" marR="5080" indent="-229235">
              <a:lnSpc>
                <a:spcPct val="130000"/>
              </a:lnSpc>
              <a:spcBef>
                <a:spcPts val="505"/>
              </a:spcBef>
              <a:buFont typeface="Courier New"/>
              <a:buChar char="o"/>
              <a:tabLst>
                <a:tab pos="515620" algn="l"/>
              </a:tabLst>
            </a:pPr>
            <a:r>
              <a:rPr dirty="0" sz="2000" spc="-10">
                <a:latin typeface="Carlito"/>
                <a:cs typeface="Carlito"/>
              </a:rPr>
              <a:t>Information</a:t>
            </a:r>
            <a:r>
              <a:rPr dirty="0" sz="2000" spc="-3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was</a:t>
            </a:r>
            <a:r>
              <a:rPr dirty="0" sz="2000" spc="-2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not</a:t>
            </a:r>
            <a:r>
              <a:rPr dirty="0" sz="2000" spc="-20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recorded</a:t>
            </a:r>
            <a:r>
              <a:rPr dirty="0" sz="2000" spc="-4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in</a:t>
            </a:r>
            <a:r>
              <a:rPr dirty="0" sz="2000" spc="-2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the</a:t>
            </a:r>
            <a:r>
              <a:rPr dirty="0" sz="2000" spc="-25">
                <a:latin typeface="Carlito"/>
                <a:cs typeface="Carlito"/>
              </a:rPr>
              <a:t> </a:t>
            </a:r>
            <a:r>
              <a:rPr dirty="0" sz="2000" spc="-20">
                <a:latin typeface="Carlito"/>
                <a:cs typeface="Carlito"/>
              </a:rPr>
              <a:t>same </a:t>
            </a:r>
            <a:r>
              <a:rPr dirty="0" sz="2000">
                <a:latin typeface="Carlito"/>
                <a:cs typeface="Carlito"/>
              </a:rPr>
              <a:t>manner</a:t>
            </a:r>
            <a:r>
              <a:rPr dirty="0" sz="2000" spc="-5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or</a:t>
            </a:r>
            <a:r>
              <a:rPr dirty="0" sz="2000" spc="-50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recorded</a:t>
            </a:r>
            <a:r>
              <a:rPr dirty="0" sz="2000" spc="-6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at</a:t>
            </a:r>
            <a:r>
              <a:rPr dirty="0" sz="2000" spc="-3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all,</a:t>
            </a:r>
            <a:r>
              <a:rPr dirty="0" sz="2000" spc="-4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across</a:t>
            </a:r>
            <a:r>
              <a:rPr dirty="0" sz="2000" spc="-3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the</a:t>
            </a:r>
            <a:r>
              <a:rPr dirty="0" sz="2000" spc="-40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wineries </a:t>
            </a:r>
            <a:r>
              <a:rPr dirty="0" sz="2000">
                <a:latin typeface="Carlito"/>
                <a:cs typeface="Carlito"/>
              </a:rPr>
              <a:t>or</a:t>
            </a:r>
            <a:r>
              <a:rPr dirty="0" sz="2000" spc="-4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at</a:t>
            </a:r>
            <a:r>
              <a:rPr dirty="0" sz="2000" spc="-2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the</a:t>
            </a:r>
            <a:r>
              <a:rPr dirty="0" sz="2000" spc="-3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same</a:t>
            </a:r>
            <a:r>
              <a:rPr dirty="0" sz="2000" spc="-20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winery</a:t>
            </a:r>
            <a:endParaRPr sz="2000">
              <a:latin typeface="Carlito"/>
              <a:cs typeface="Carlito"/>
            </a:endParaRPr>
          </a:p>
          <a:p>
            <a:pPr lvl="2" marL="743585" indent="-227965">
              <a:lnSpc>
                <a:spcPct val="100000"/>
              </a:lnSpc>
              <a:spcBef>
                <a:spcPts val="1185"/>
              </a:spcBef>
              <a:buFont typeface="Wingdings"/>
              <a:buChar char=""/>
              <a:tabLst>
                <a:tab pos="743585" algn="l"/>
              </a:tabLst>
            </a:pPr>
            <a:r>
              <a:rPr dirty="0" sz="1800">
                <a:latin typeface="Carlito"/>
                <a:cs typeface="Carlito"/>
              </a:rPr>
              <a:t>Including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Names</a:t>
            </a:r>
            <a:r>
              <a:rPr dirty="0" sz="1800" spc="-6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and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Emails</a:t>
            </a:r>
            <a:endParaRPr sz="1800">
              <a:latin typeface="Carlito"/>
              <a:cs typeface="Carlito"/>
            </a:endParaRPr>
          </a:p>
          <a:p>
            <a:pPr marL="240665" indent="-227965">
              <a:lnSpc>
                <a:spcPct val="100000"/>
              </a:lnSpc>
              <a:spcBef>
                <a:spcPts val="168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>
                <a:latin typeface="Carlito"/>
                <a:cs typeface="Carlito"/>
              </a:rPr>
              <a:t>Accessibility</a:t>
            </a:r>
            <a:r>
              <a:rPr dirty="0" sz="2000" spc="-2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was</a:t>
            </a:r>
            <a:r>
              <a:rPr dirty="0" sz="2000" spc="-5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limited</a:t>
            </a:r>
            <a:r>
              <a:rPr dirty="0" sz="2000" spc="-2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due</a:t>
            </a:r>
            <a:r>
              <a:rPr dirty="0" sz="2000" spc="-6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to</a:t>
            </a:r>
            <a:r>
              <a:rPr dirty="0" sz="2000" spc="-50">
                <a:latin typeface="Carlito"/>
                <a:cs typeface="Carlito"/>
              </a:rPr>
              <a:t> </a:t>
            </a:r>
            <a:r>
              <a:rPr dirty="0" sz="2000" spc="-25">
                <a:latin typeface="Carlito"/>
                <a:cs typeface="Carlito"/>
              </a:rPr>
              <a:t>PII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1582400" y="0"/>
            <a:ext cx="609600" cy="200025"/>
          </a:xfrm>
          <a:custGeom>
            <a:avLst/>
            <a:gdLst/>
            <a:ahLst/>
            <a:cxnLst/>
            <a:rect l="l" t="t" r="r" b="b"/>
            <a:pathLst>
              <a:path w="609600" h="200025">
                <a:moveTo>
                  <a:pt x="0" y="199644"/>
                </a:moveTo>
                <a:lnTo>
                  <a:pt x="609600" y="199644"/>
                </a:lnTo>
                <a:lnTo>
                  <a:pt x="609600" y="0"/>
                </a:lnTo>
              </a:path>
              <a:path w="609600" h="200025">
                <a:moveTo>
                  <a:pt x="0" y="0"/>
                </a:moveTo>
                <a:lnTo>
                  <a:pt x="0" y="199644"/>
                </a:lnTo>
              </a:path>
            </a:pathLst>
          </a:custGeom>
          <a:ln w="15875">
            <a:solidFill>
              <a:srgbClr val="1323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785218" y="-33781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latin typeface="Carlito"/>
                <a:cs typeface="Carlito"/>
              </a:rPr>
              <a:t>11</a:t>
            </a:r>
            <a:endParaRPr sz="1400">
              <a:latin typeface="Carlito"/>
              <a:cs typeface="Carlito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5804" y="3816096"/>
            <a:ext cx="3483863" cy="232867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64195" y="896111"/>
            <a:ext cx="3314700" cy="17785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1382" y="791921"/>
            <a:ext cx="220091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25">
                <a:solidFill>
                  <a:srgbClr val="000000"/>
                </a:solidFill>
              </a:rPr>
              <a:t>STORAGE</a:t>
            </a:r>
            <a:endParaRPr sz="4400"/>
          </a:p>
        </p:txBody>
      </p:sp>
      <p:sp>
        <p:nvSpPr>
          <p:cNvPr id="3" name="object 3" descr=""/>
          <p:cNvSpPr txBox="1"/>
          <p:nvPr/>
        </p:nvSpPr>
        <p:spPr>
          <a:xfrm>
            <a:off x="1167180" y="2408046"/>
            <a:ext cx="3472815" cy="2355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marR="74930" indent="-228600">
              <a:lnSpc>
                <a:spcPct val="13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rlito"/>
                <a:cs typeface="Carlito"/>
              </a:rPr>
              <a:t>The</a:t>
            </a:r>
            <a:r>
              <a:rPr dirty="0" sz="1800" spc="-65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predetermined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datasets</a:t>
            </a:r>
            <a:r>
              <a:rPr dirty="0" sz="1800" spc="-70">
                <a:latin typeface="Carlito"/>
                <a:cs typeface="Carlito"/>
              </a:rPr>
              <a:t> </a:t>
            </a:r>
            <a:r>
              <a:rPr dirty="0" sz="1800" spc="-20">
                <a:latin typeface="Carlito"/>
                <a:cs typeface="Carlito"/>
              </a:rPr>
              <a:t>were </a:t>
            </a:r>
            <a:r>
              <a:rPr dirty="0" sz="1800">
                <a:latin typeface="Carlito"/>
                <a:cs typeface="Carlito"/>
              </a:rPr>
              <a:t>placed</a:t>
            </a:r>
            <a:r>
              <a:rPr dirty="0" sz="1800" spc="-2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in</a:t>
            </a:r>
            <a:r>
              <a:rPr dirty="0" sz="1800" spc="-2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the</a:t>
            </a:r>
            <a:r>
              <a:rPr dirty="0" sz="1800" spc="-2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S3</a:t>
            </a:r>
            <a:r>
              <a:rPr dirty="0" sz="1800" spc="-3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Bucket</a:t>
            </a:r>
            <a:r>
              <a:rPr dirty="0" sz="1800" spc="-3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by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 spc="-25">
                <a:latin typeface="Carlito"/>
                <a:cs typeface="Carlito"/>
              </a:rPr>
              <a:t>POC</a:t>
            </a:r>
            <a:endParaRPr sz="1800">
              <a:latin typeface="Carlito"/>
              <a:cs typeface="Carlito"/>
            </a:endParaRPr>
          </a:p>
          <a:p>
            <a:pPr lvl="1" marL="513715" marR="328930" indent="-227329">
              <a:lnSpc>
                <a:spcPct val="130000"/>
              </a:lnSpc>
              <a:spcBef>
                <a:spcPts val="490"/>
              </a:spcBef>
              <a:buFont typeface="Courier New"/>
              <a:buChar char="o"/>
              <a:tabLst>
                <a:tab pos="514984" algn="l"/>
              </a:tabLst>
            </a:pPr>
            <a:r>
              <a:rPr dirty="0" sz="1800" spc="-10">
                <a:latin typeface="Carlito"/>
                <a:cs typeface="Carlito"/>
              </a:rPr>
              <a:t>Went</a:t>
            </a:r>
            <a:r>
              <a:rPr dirty="0" sz="1800" spc="-6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through</a:t>
            </a:r>
            <a:r>
              <a:rPr dirty="0" sz="1800" spc="-4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all</a:t>
            </a:r>
            <a:r>
              <a:rPr dirty="0" sz="1800" spc="-5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datasets</a:t>
            </a:r>
            <a:r>
              <a:rPr dirty="0" sz="1800" spc="-60">
                <a:latin typeface="Carlito"/>
                <a:cs typeface="Carlito"/>
              </a:rPr>
              <a:t> </a:t>
            </a:r>
            <a:r>
              <a:rPr dirty="0" sz="1800" spc="-25">
                <a:latin typeface="Carlito"/>
                <a:cs typeface="Carlito"/>
              </a:rPr>
              <a:t>in </a:t>
            </a:r>
            <a:r>
              <a:rPr dirty="0" sz="1800" spc="-25">
                <a:latin typeface="Carlito"/>
                <a:cs typeface="Carlito"/>
              </a:rPr>
              <a:t>	</a:t>
            </a:r>
            <a:r>
              <a:rPr dirty="0" sz="1800">
                <a:latin typeface="Carlito"/>
                <a:cs typeface="Carlito"/>
              </a:rPr>
              <a:t>person</a:t>
            </a:r>
            <a:r>
              <a:rPr dirty="0" sz="1800" spc="-5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with</a:t>
            </a:r>
            <a:r>
              <a:rPr dirty="0" sz="1800" spc="-60">
                <a:latin typeface="Carlito"/>
                <a:cs typeface="Carlito"/>
              </a:rPr>
              <a:t> </a:t>
            </a:r>
            <a:r>
              <a:rPr dirty="0" sz="1800" spc="-25">
                <a:latin typeface="Carlito"/>
                <a:cs typeface="Carlito"/>
              </a:rPr>
              <a:t>POC</a:t>
            </a:r>
            <a:endParaRPr sz="1800">
              <a:latin typeface="Carlito"/>
              <a:cs typeface="Carlito"/>
            </a:endParaRPr>
          </a:p>
          <a:p>
            <a:pPr marL="240665" marR="5080" indent="-228600">
              <a:lnSpc>
                <a:spcPct val="130000"/>
              </a:lnSpc>
              <a:spcBef>
                <a:spcPts val="101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rlito"/>
                <a:cs typeface="Carlito"/>
              </a:rPr>
              <a:t>S3</a:t>
            </a:r>
            <a:r>
              <a:rPr dirty="0" sz="1800" spc="-5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Bucket</a:t>
            </a:r>
            <a:r>
              <a:rPr dirty="0" sz="1800" spc="-4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costs</a:t>
            </a:r>
            <a:r>
              <a:rPr dirty="0" sz="1800" spc="-5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only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a</a:t>
            </a:r>
            <a:r>
              <a:rPr dirty="0" sz="1800" spc="-5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few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cents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 spc="-25">
                <a:latin typeface="Carlito"/>
                <a:cs typeface="Carlito"/>
              </a:rPr>
              <a:t>to </a:t>
            </a:r>
            <a:r>
              <a:rPr dirty="0" sz="1800">
                <a:latin typeface="Carlito"/>
                <a:cs typeface="Carlito"/>
              </a:rPr>
              <a:t>use</a:t>
            </a:r>
            <a:r>
              <a:rPr dirty="0" sz="1800" spc="-1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as</a:t>
            </a:r>
            <a:r>
              <a:rPr dirty="0" sz="1800" spc="-25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storage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576304" y="0"/>
            <a:ext cx="609600" cy="204470"/>
          </a:xfrm>
          <a:prstGeom prst="rect">
            <a:avLst/>
          </a:prstGeom>
          <a:ln w="15875">
            <a:solidFill>
              <a:srgbClr val="13234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635">
              <a:lnSpc>
                <a:spcPts val="1550"/>
              </a:lnSpc>
            </a:pPr>
            <a:r>
              <a:rPr dirty="0" sz="1400" spc="-25" b="1">
                <a:latin typeface="Carlito"/>
                <a:cs typeface="Carlito"/>
              </a:rPr>
              <a:t>12</a:t>
            </a:r>
            <a:endParaRPr sz="1400">
              <a:latin typeface="Carlito"/>
              <a:cs typeface="Carlito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4109" y="1734311"/>
            <a:ext cx="3938968" cy="35858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4936" y="2817622"/>
            <a:ext cx="6929755" cy="10623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800">
                <a:solidFill>
                  <a:srgbClr val="000000"/>
                </a:solidFill>
              </a:rPr>
              <a:t>TRANS</a:t>
            </a:r>
            <a:r>
              <a:rPr dirty="0" sz="6800" spc="-45">
                <a:solidFill>
                  <a:srgbClr val="000000"/>
                </a:solidFill>
              </a:rPr>
              <a:t>F</a:t>
            </a:r>
            <a:r>
              <a:rPr dirty="0" sz="6800">
                <a:solidFill>
                  <a:srgbClr val="000000"/>
                </a:solidFill>
              </a:rPr>
              <a:t>ORM</a:t>
            </a:r>
            <a:r>
              <a:rPr dirty="0" sz="6800" spc="-530">
                <a:solidFill>
                  <a:srgbClr val="000000"/>
                </a:solidFill>
              </a:rPr>
              <a:t>A</a:t>
            </a:r>
            <a:r>
              <a:rPr dirty="0" sz="6800">
                <a:solidFill>
                  <a:srgbClr val="000000"/>
                </a:solidFill>
              </a:rPr>
              <a:t>TION</a:t>
            </a:r>
            <a:endParaRPr sz="6800"/>
          </a:p>
        </p:txBody>
      </p:sp>
      <p:sp>
        <p:nvSpPr>
          <p:cNvPr id="3" name="object 3" descr=""/>
          <p:cNvSpPr/>
          <p:nvPr/>
        </p:nvSpPr>
        <p:spPr>
          <a:xfrm>
            <a:off x="0" y="1142809"/>
            <a:ext cx="796925" cy="85725"/>
          </a:xfrm>
          <a:custGeom>
            <a:avLst/>
            <a:gdLst/>
            <a:ahLst/>
            <a:cxnLst/>
            <a:rect l="l" t="t" r="r" b="b"/>
            <a:pathLst>
              <a:path w="796925" h="85725">
                <a:moveTo>
                  <a:pt x="796569" y="0"/>
                </a:moveTo>
                <a:lnTo>
                  <a:pt x="0" y="0"/>
                </a:lnTo>
                <a:lnTo>
                  <a:pt x="0" y="85725"/>
                </a:lnTo>
                <a:lnTo>
                  <a:pt x="796569" y="85725"/>
                </a:lnTo>
                <a:lnTo>
                  <a:pt x="7965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1576304" y="0"/>
            <a:ext cx="609600" cy="204470"/>
          </a:xfrm>
          <a:custGeom>
            <a:avLst/>
            <a:gdLst/>
            <a:ahLst/>
            <a:cxnLst/>
            <a:rect l="l" t="t" r="r" b="b"/>
            <a:pathLst>
              <a:path w="609600" h="204470">
                <a:moveTo>
                  <a:pt x="0" y="204216"/>
                </a:moveTo>
                <a:lnTo>
                  <a:pt x="609600" y="204216"/>
                </a:lnTo>
                <a:lnTo>
                  <a:pt x="609600" y="0"/>
                </a:lnTo>
                <a:lnTo>
                  <a:pt x="0" y="0"/>
                </a:lnTo>
                <a:lnTo>
                  <a:pt x="0" y="204216"/>
                </a:lnTo>
                <a:close/>
              </a:path>
            </a:pathLst>
          </a:custGeom>
          <a:ln w="15874">
            <a:solidFill>
              <a:srgbClr val="1323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779122" y="-29464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latin typeface="Carlito"/>
                <a:cs typeface="Carlito"/>
              </a:rPr>
              <a:t>13</a:t>
            </a:r>
            <a:endParaRPr sz="1400">
              <a:latin typeface="Carlito"/>
              <a:cs typeface="Carlito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4631" y="1818567"/>
            <a:ext cx="3306354" cy="32330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5357" y="761187"/>
            <a:ext cx="517588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000000"/>
                </a:solidFill>
              </a:rPr>
              <a:t>MODIFYING</a:t>
            </a:r>
            <a:r>
              <a:rPr dirty="0" sz="4400" spc="-25">
                <a:solidFill>
                  <a:srgbClr val="000000"/>
                </a:solidFill>
              </a:rPr>
              <a:t> </a:t>
            </a:r>
            <a:r>
              <a:rPr dirty="0" sz="4400">
                <a:solidFill>
                  <a:srgbClr val="000000"/>
                </a:solidFill>
              </a:rPr>
              <a:t>THE</a:t>
            </a:r>
            <a:r>
              <a:rPr dirty="0" sz="4400" spc="-35">
                <a:solidFill>
                  <a:srgbClr val="000000"/>
                </a:solidFill>
              </a:rPr>
              <a:t> </a:t>
            </a:r>
            <a:r>
              <a:rPr dirty="0" sz="4400" spc="-175">
                <a:solidFill>
                  <a:srgbClr val="000000"/>
                </a:solidFill>
              </a:rPr>
              <a:t>DATA</a:t>
            </a:r>
            <a:endParaRPr sz="4400"/>
          </a:p>
        </p:txBody>
      </p:sp>
      <p:sp>
        <p:nvSpPr>
          <p:cNvPr id="3" name="object 3" descr=""/>
          <p:cNvSpPr txBox="1"/>
          <p:nvPr/>
        </p:nvSpPr>
        <p:spPr>
          <a:xfrm>
            <a:off x="659079" y="1645274"/>
            <a:ext cx="8973820" cy="2252345"/>
          </a:xfrm>
          <a:prstGeom prst="rect">
            <a:avLst/>
          </a:prstGeom>
        </p:spPr>
        <p:txBody>
          <a:bodyPr wrap="square" lIns="0" tIns="15684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3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rlito"/>
                <a:cs typeface="Carlito"/>
              </a:rPr>
              <a:t>Names</a:t>
            </a:r>
            <a:r>
              <a:rPr dirty="0" sz="1800" spc="-4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and</a:t>
            </a:r>
            <a:r>
              <a:rPr dirty="0" sz="1800" spc="-2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Emails</a:t>
            </a:r>
            <a:r>
              <a:rPr dirty="0" sz="1800" spc="-3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needed</a:t>
            </a:r>
            <a:r>
              <a:rPr dirty="0" sz="1800" spc="-2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to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be</a:t>
            </a:r>
            <a:r>
              <a:rPr dirty="0" sz="1800" spc="-2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modified</a:t>
            </a:r>
            <a:r>
              <a:rPr dirty="0" sz="1800" spc="-1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to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be</a:t>
            </a:r>
            <a:r>
              <a:rPr dirty="0" sz="1800" spc="-2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in</a:t>
            </a:r>
            <a:r>
              <a:rPr dirty="0" sz="1800" spc="-3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the</a:t>
            </a:r>
            <a:r>
              <a:rPr dirty="0" sz="1800" spc="-2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same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format</a:t>
            </a:r>
            <a:endParaRPr sz="1800">
              <a:latin typeface="Carlito"/>
              <a:cs typeface="Carlito"/>
            </a:endParaRPr>
          </a:p>
          <a:p>
            <a:pPr lvl="1" marL="513715" indent="-227329">
              <a:lnSpc>
                <a:spcPct val="100000"/>
              </a:lnSpc>
              <a:spcBef>
                <a:spcPts val="1140"/>
              </a:spcBef>
              <a:buFont typeface="Courier New"/>
              <a:buChar char="o"/>
              <a:tabLst>
                <a:tab pos="513715" algn="l"/>
              </a:tabLst>
            </a:pPr>
            <a:r>
              <a:rPr dirty="0" sz="1800">
                <a:latin typeface="Carlito"/>
                <a:cs typeface="Carlito"/>
              </a:rPr>
              <a:t>Emails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changed</a:t>
            </a:r>
            <a:r>
              <a:rPr dirty="0" sz="1800" spc="-3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to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be</a:t>
            </a:r>
            <a:r>
              <a:rPr dirty="0" sz="1800" spc="-2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lower</a:t>
            </a:r>
            <a:r>
              <a:rPr dirty="0" sz="1800" spc="-2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case,</a:t>
            </a:r>
            <a:r>
              <a:rPr dirty="0" sz="1800" spc="-5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and</a:t>
            </a:r>
            <a:r>
              <a:rPr dirty="0" sz="1800" spc="-2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Names</a:t>
            </a:r>
            <a:r>
              <a:rPr dirty="0" sz="1800" spc="-4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were</a:t>
            </a:r>
            <a:r>
              <a:rPr dirty="0" sz="1800" spc="-3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all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changed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to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same</a:t>
            </a:r>
            <a:r>
              <a:rPr dirty="0" sz="1800" spc="-4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format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of:</a:t>
            </a:r>
            <a:r>
              <a:rPr dirty="0" sz="1800" spc="-3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First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 spc="-20">
                <a:latin typeface="Carlito"/>
                <a:cs typeface="Carlito"/>
              </a:rPr>
              <a:t>Last</a:t>
            </a:r>
            <a:endParaRPr sz="1800">
              <a:latin typeface="Carlito"/>
              <a:cs typeface="Carlito"/>
            </a:endParaRPr>
          </a:p>
          <a:p>
            <a:pPr marL="240665" indent="-227965">
              <a:lnSpc>
                <a:spcPct val="100000"/>
              </a:lnSpc>
              <a:spcBef>
                <a:spcPts val="16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rlito"/>
                <a:cs typeface="Carlito"/>
              </a:rPr>
              <a:t>Certain</a:t>
            </a:r>
            <a:r>
              <a:rPr dirty="0" sz="1800" spc="-5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columns</a:t>
            </a:r>
            <a:r>
              <a:rPr dirty="0" sz="1800" spc="-4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needed</a:t>
            </a:r>
            <a:r>
              <a:rPr dirty="0" sz="1800" spc="-4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to</a:t>
            </a:r>
            <a:r>
              <a:rPr dirty="0" sz="1800" spc="-6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be</a:t>
            </a:r>
            <a:r>
              <a:rPr dirty="0" sz="1800" spc="-55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excluded</a:t>
            </a:r>
            <a:endParaRPr sz="1800">
              <a:latin typeface="Carlito"/>
              <a:cs typeface="Carlito"/>
            </a:endParaRPr>
          </a:p>
          <a:p>
            <a:pPr lvl="1" marL="513715" indent="-227329">
              <a:lnSpc>
                <a:spcPct val="100000"/>
              </a:lnSpc>
              <a:spcBef>
                <a:spcPts val="1140"/>
              </a:spcBef>
              <a:buFont typeface="Courier New"/>
              <a:buChar char="o"/>
              <a:tabLst>
                <a:tab pos="513715" algn="l"/>
              </a:tabLst>
            </a:pPr>
            <a:r>
              <a:rPr dirty="0" sz="1800">
                <a:latin typeface="Carlito"/>
                <a:cs typeface="Carlito"/>
              </a:rPr>
              <a:t>Certain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pieces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of</a:t>
            </a:r>
            <a:r>
              <a:rPr dirty="0" sz="1800" spc="-5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data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not</a:t>
            </a:r>
            <a:r>
              <a:rPr dirty="0" sz="1800" spc="-5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used</a:t>
            </a:r>
            <a:r>
              <a:rPr dirty="0" sz="1800" spc="-5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and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others</a:t>
            </a:r>
            <a:r>
              <a:rPr dirty="0" sz="1800" spc="-4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not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relevant</a:t>
            </a:r>
            <a:r>
              <a:rPr dirty="0" sz="1800" spc="-5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to</a:t>
            </a:r>
            <a:r>
              <a:rPr dirty="0" sz="1800" spc="-5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the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necessary</a:t>
            </a:r>
            <a:r>
              <a:rPr dirty="0" sz="1800" spc="-60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analytics</a:t>
            </a:r>
            <a:endParaRPr sz="1800">
              <a:latin typeface="Carlito"/>
              <a:cs typeface="Carlito"/>
            </a:endParaRPr>
          </a:p>
          <a:p>
            <a:pPr marL="240665" indent="-227965">
              <a:lnSpc>
                <a:spcPct val="100000"/>
              </a:lnSpc>
              <a:spcBef>
                <a:spcPts val="165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rlito"/>
                <a:cs typeface="Carlito"/>
              </a:rPr>
              <a:t>Empty</a:t>
            </a:r>
            <a:r>
              <a:rPr dirty="0" sz="1800" spc="-6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records</a:t>
            </a:r>
            <a:r>
              <a:rPr dirty="0" sz="1800" spc="-5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in</a:t>
            </a:r>
            <a:r>
              <a:rPr dirty="0" sz="1800" spc="-5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columns</a:t>
            </a:r>
            <a:r>
              <a:rPr dirty="0" sz="1800" spc="-6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that</a:t>
            </a:r>
            <a:r>
              <a:rPr dirty="0" sz="1800" spc="-6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remained</a:t>
            </a:r>
            <a:r>
              <a:rPr dirty="0" sz="1800" spc="-5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were</a:t>
            </a:r>
            <a:r>
              <a:rPr dirty="0" sz="1800" spc="-50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removed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1582400" y="0"/>
            <a:ext cx="609600" cy="200025"/>
          </a:xfrm>
          <a:custGeom>
            <a:avLst/>
            <a:gdLst/>
            <a:ahLst/>
            <a:cxnLst/>
            <a:rect l="l" t="t" r="r" b="b"/>
            <a:pathLst>
              <a:path w="609600" h="200025">
                <a:moveTo>
                  <a:pt x="0" y="199644"/>
                </a:moveTo>
                <a:lnTo>
                  <a:pt x="609600" y="199644"/>
                </a:lnTo>
                <a:lnTo>
                  <a:pt x="609600" y="0"/>
                </a:lnTo>
              </a:path>
              <a:path w="609600" h="200025">
                <a:moveTo>
                  <a:pt x="0" y="0"/>
                </a:moveTo>
                <a:lnTo>
                  <a:pt x="0" y="199644"/>
                </a:lnTo>
              </a:path>
            </a:pathLst>
          </a:custGeom>
          <a:ln w="15875">
            <a:solidFill>
              <a:srgbClr val="1323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785218" y="-33781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latin typeface="Carlito"/>
                <a:cs typeface="Carlito"/>
              </a:rPr>
              <a:t>14</a:t>
            </a:r>
            <a:endParaRPr sz="1400">
              <a:latin typeface="Carlito"/>
              <a:cs typeface="Carlito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055" y="4443984"/>
            <a:ext cx="3406140" cy="167944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77911" y="3622547"/>
            <a:ext cx="3912107" cy="29778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2134" y="2850896"/>
            <a:ext cx="3365500" cy="10623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800" spc="-30">
                <a:solidFill>
                  <a:srgbClr val="000000"/>
                </a:solidFill>
              </a:rPr>
              <a:t>LOADING</a:t>
            </a:r>
            <a:endParaRPr sz="6800"/>
          </a:p>
        </p:txBody>
      </p:sp>
      <p:sp>
        <p:nvSpPr>
          <p:cNvPr id="3" name="object 3" descr=""/>
          <p:cNvSpPr/>
          <p:nvPr/>
        </p:nvSpPr>
        <p:spPr>
          <a:xfrm>
            <a:off x="0" y="1142809"/>
            <a:ext cx="796925" cy="85725"/>
          </a:xfrm>
          <a:custGeom>
            <a:avLst/>
            <a:gdLst/>
            <a:ahLst/>
            <a:cxnLst/>
            <a:rect l="l" t="t" r="r" b="b"/>
            <a:pathLst>
              <a:path w="796925" h="85725">
                <a:moveTo>
                  <a:pt x="796569" y="0"/>
                </a:moveTo>
                <a:lnTo>
                  <a:pt x="0" y="0"/>
                </a:lnTo>
                <a:lnTo>
                  <a:pt x="0" y="85725"/>
                </a:lnTo>
                <a:lnTo>
                  <a:pt x="796569" y="85725"/>
                </a:lnTo>
                <a:lnTo>
                  <a:pt x="7965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1576304" y="0"/>
            <a:ext cx="609600" cy="204470"/>
          </a:xfrm>
          <a:custGeom>
            <a:avLst/>
            <a:gdLst/>
            <a:ahLst/>
            <a:cxnLst/>
            <a:rect l="l" t="t" r="r" b="b"/>
            <a:pathLst>
              <a:path w="609600" h="204470">
                <a:moveTo>
                  <a:pt x="0" y="204216"/>
                </a:moveTo>
                <a:lnTo>
                  <a:pt x="609600" y="204216"/>
                </a:lnTo>
                <a:lnTo>
                  <a:pt x="609600" y="0"/>
                </a:lnTo>
                <a:lnTo>
                  <a:pt x="0" y="0"/>
                </a:lnTo>
                <a:lnTo>
                  <a:pt x="0" y="204216"/>
                </a:lnTo>
                <a:close/>
              </a:path>
            </a:pathLst>
          </a:custGeom>
          <a:ln w="15874">
            <a:solidFill>
              <a:srgbClr val="1323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779122" y="-29464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latin typeface="Carlito"/>
                <a:cs typeface="Carlito"/>
              </a:rPr>
              <a:t>15</a:t>
            </a:r>
            <a:endParaRPr sz="1400">
              <a:latin typeface="Carlito"/>
              <a:cs typeface="Carlito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1467" y="1309486"/>
            <a:ext cx="3929950" cy="34011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6255" rIns="0" bIns="0" rtlCol="0" vert="horz">
            <a:spAutoFit/>
          </a:bodyPr>
          <a:lstStyle/>
          <a:p>
            <a:pPr marL="540385">
              <a:lnSpc>
                <a:spcPct val="100000"/>
              </a:lnSpc>
              <a:spcBef>
                <a:spcPts val="105"/>
              </a:spcBef>
            </a:pPr>
            <a:r>
              <a:rPr dirty="0" sz="4400" spc="-195">
                <a:solidFill>
                  <a:srgbClr val="000000"/>
                </a:solidFill>
              </a:rPr>
              <a:t>DATA</a:t>
            </a:r>
            <a:r>
              <a:rPr dirty="0" sz="4400" spc="-35">
                <a:solidFill>
                  <a:srgbClr val="000000"/>
                </a:solidFill>
              </a:rPr>
              <a:t> </a:t>
            </a:r>
            <a:r>
              <a:rPr dirty="0" sz="4400" spc="-10">
                <a:solidFill>
                  <a:srgbClr val="000000"/>
                </a:solidFill>
              </a:rPr>
              <a:t>IMPORTING</a:t>
            </a:r>
            <a:endParaRPr sz="4400"/>
          </a:p>
        </p:txBody>
      </p:sp>
      <p:sp>
        <p:nvSpPr>
          <p:cNvPr id="3" name="object 3" descr=""/>
          <p:cNvSpPr txBox="1"/>
          <p:nvPr/>
        </p:nvSpPr>
        <p:spPr>
          <a:xfrm>
            <a:off x="1167485" y="2407665"/>
            <a:ext cx="619188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239395" algn="l"/>
              </a:tabLst>
            </a:pPr>
            <a:r>
              <a:rPr dirty="0" sz="1800" spc="-10">
                <a:latin typeface="Carlito"/>
                <a:cs typeface="Carlito"/>
              </a:rPr>
              <a:t>Created</a:t>
            </a:r>
            <a:r>
              <a:rPr dirty="0" sz="1800" spc="-5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tables</a:t>
            </a:r>
            <a:r>
              <a:rPr dirty="0" sz="1800" spc="-6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using</a:t>
            </a:r>
            <a:r>
              <a:rPr dirty="0" sz="1800" spc="-6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Data</a:t>
            </a:r>
            <a:r>
              <a:rPr dirty="0" sz="1800" spc="-6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Definition</a:t>
            </a:r>
            <a:r>
              <a:rPr dirty="0" sz="1800" spc="-5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Language</a:t>
            </a:r>
            <a:r>
              <a:rPr dirty="0" sz="1800" spc="-5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(DDL)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statements</a:t>
            </a:r>
            <a:endParaRPr sz="1800">
              <a:latin typeface="Carlito"/>
              <a:cs typeface="Carlito"/>
            </a:endParaRPr>
          </a:p>
          <a:p>
            <a:pPr marL="239395" indent="-226695">
              <a:lnSpc>
                <a:spcPct val="100000"/>
              </a:lnSpc>
              <a:spcBef>
                <a:spcPts val="2160"/>
              </a:spcBef>
              <a:buChar char="•"/>
              <a:tabLst>
                <a:tab pos="239395" algn="l"/>
              </a:tabLst>
            </a:pPr>
            <a:r>
              <a:rPr dirty="0" sz="1800" spc="-90">
                <a:latin typeface="Trebuchet MS"/>
                <a:cs typeface="Trebuchet MS"/>
              </a:rPr>
              <a:t>Built</a:t>
            </a:r>
            <a:r>
              <a:rPr dirty="0" sz="1800" spc="-105">
                <a:latin typeface="Trebuchet MS"/>
                <a:cs typeface="Trebuchet MS"/>
              </a:rPr>
              <a:t> </a:t>
            </a:r>
            <a:r>
              <a:rPr dirty="0" sz="1800" spc="-90">
                <a:latin typeface="Trebuchet MS"/>
                <a:cs typeface="Trebuchet MS"/>
              </a:rPr>
              <a:t>Pipelines</a:t>
            </a:r>
            <a:r>
              <a:rPr dirty="0" sz="1800" spc="-95">
                <a:latin typeface="Trebuchet MS"/>
                <a:cs typeface="Trebuchet MS"/>
              </a:rPr>
              <a:t> </a:t>
            </a:r>
            <a:r>
              <a:rPr dirty="0" sz="1800" spc="-80">
                <a:latin typeface="Trebuchet MS"/>
                <a:cs typeface="Trebuchet MS"/>
              </a:rPr>
              <a:t>to</a:t>
            </a:r>
            <a:r>
              <a:rPr dirty="0" sz="1800" spc="-114">
                <a:latin typeface="Trebuchet MS"/>
                <a:cs typeface="Trebuchet MS"/>
              </a:rPr>
              <a:t> </a:t>
            </a:r>
            <a:r>
              <a:rPr dirty="0" sz="1800" spc="-80">
                <a:latin typeface="Trebuchet MS"/>
                <a:cs typeface="Trebuchet MS"/>
              </a:rPr>
              <a:t>load</a:t>
            </a:r>
            <a:r>
              <a:rPr dirty="0" sz="1800" spc="-90">
                <a:latin typeface="Trebuchet MS"/>
                <a:cs typeface="Trebuchet MS"/>
              </a:rPr>
              <a:t> </a:t>
            </a:r>
            <a:r>
              <a:rPr dirty="0" sz="1800" spc="-95">
                <a:latin typeface="Trebuchet MS"/>
                <a:cs typeface="Trebuchet MS"/>
              </a:rPr>
              <a:t>the</a:t>
            </a:r>
            <a:r>
              <a:rPr dirty="0" sz="1800" spc="-110">
                <a:latin typeface="Trebuchet MS"/>
                <a:cs typeface="Trebuchet MS"/>
              </a:rPr>
              <a:t> data</a:t>
            </a:r>
            <a:r>
              <a:rPr dirty="0" sz="1800" spc="-114">
                <a:latin typeface="Trebuchet MS"/>
                <a:cs typeface="Trebuchet MS"/>
              </a:rPr>
              <a:t> </a:t>
            </a:r>
            <a:r>
              <a:rPr dirty="0" sz="1800" spc="-85">
                <a:latin typeface="Trebuchet MS"/>
                <a:cs typeface="Trebuchet MS"/>
              </a:rPr>
              <a:t>into</a:t>
            </a:r>
            <a:r>
              <a:rPr dirty="0" sz="1800" spc="-105">
                <a:latin typeface="Trebuchet MS"/>
                <a:cs typeface="Trebuchet MS"/>
              </a:rPr>
              <a:t> </a:t>
            </a:r>
            <a:r>
              <a:rPr dirty="0" sz="1800" spc="-95">
                <a:latin typeface="Trebuchet MS"/>
                <a:cs typeface="Trebuchet MS"/>
              </a:rPr>
              <a:t>the</a:t>
            </a:r>
            <a:r>
              <a:rPr dirty="0" sz="1800" spc="-10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tables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1582400" y="0"/>
            <a:ext cx="609600" cy="200025"/>
          </a:xfrm>
          <a:custGeom>
            <a:avLst/>
            <a:gdLst/>
            <a:ahLst/>
            <a:cxnLst/>
            <a:rect l="l" t="t" r="r" b="b"/>
            <a:pathLst>
              <a:path w="609600" h="200025">
                <a:moveTo>
                  <a:pt x="0" y="199644"/>
                </a:moveTo>
                <a:lnTo>
                  <a:pt x="609600" y="199644"/>
                </a:lnTo>
                <a:lnTo>
                  <a:pt x="609600" y="0"/>
                </a:lnTo>
              </a:path>
              <a:path w="609600" h="200025">
                <a:moveTo>
                  <a:pt x="0" y="0"/>
                </a:moveTo>
                <a:lnTo>
                  <a:pt x="0" y="199644"/>
                </a:lnTo>
              </a:path>
            </a:pathLst>
          </a:custGeom>
          <a:ln w="15875">
            <a:solidFill>
              <a:srgbClr val="1323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785218" y="-33781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latin typeface="Carlito"/>
                <a:cs typeface="Carlito"/>
              </a:rPr>
              <a:t>16</a:t>
            </a:r>
            <a:endParaRPr sz="1400">
              <a:latin typeface="Carlito"/>
              <a:cs typeface="Carlito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611" y="3713988"/>
            <a:ext cx="4340352" cy="223570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13419" y="2307335"/>
            <a:ext cx="2743200" cy="36484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8409" rIns="0" bIns="0" rtlCol="0" vert="horz">
            <a:spAutoFit/>
          </a:bodyPr>
          <a:lstStyle/>
          <a:p>
            <a:pPr marL="527685">
              <a:lnSpc>
                <a:spcPct val="100000"/>
              </a:lnSpc>
              <a:spcBef>
                <a:spcPts val="95"/>
              </a:spcBef>
            </a:pPr>
            <a:r>
              <a:rPr dirty="0" sz="4000" spc="-10">
                <a:solidFill>
                  <a:srgbClr val="000000"/>
                </a:solidFill>
              </a:rPr>
              <a:t>SCRIPTING</a:t>
            </a:r>
            <a:endParaRPr sz="4000"/>
          </a:p>
        </p:txBody>
      </p:sp>
      <p:sp>
        <p:nvSpPr>
          <p:cNvPr id="3" name="object 3" descr=""/>
          <p:cNvSpPr/>
          <p:nvPr/>
        </p:nvSpPr>
        <p:spPr>
          <a:xfrm>
            <a:off x="0" y="1144333"/>
            <a:ext cx="796925" cy="85725"/>
          </a:xfrm>
          <a:custGeom>
            <a:avLst/>
            <a:gdLst/>
            <a:ahLst/>
            <a:cxnLst/>
            <a:rect l="l" t="t" r="r" b="b"/>
            <a:pathLst>
              <a:path w="796925" h="85725">
                <a:moveTo>
                  <a:pt x="796569" y="0"/>
                </a:moveTo>
                <a:lnTo>
                  <a:pt x="0" y="0"/>
                </a:lnTo>
                <a:lnTo>
                  <a:pt x="0" y="85725"/>
                </a:lnTo>
                <a:lnTo>
                  <a:pt x="796569" y="85725"/>
                </a:lnTo>
                <a:lnTo>
                  <a:pt x="7965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119550" y="3466338"/>
            <a:ext cx="672465" cy="708025"/>
          </a:xfrm>
          <a:custGeom>
            <a:avLst/>
            <a:gdLst/>
            <a:ahLst/>
            <a:cxnLst/>
            <a:rect l="l" t="t" r="r" b="b"/>
            <a:pathLst>
              <a:path w="672464" h="708025">
                <a:moveTo>
                  <a:pt x="504024" y="166598"/>
                </a:moveTo>
                <a:lnTo>
                  <a:pt x="498017" y="122313"/>
                </a:lnTo>
                <a:lnTo>
                  <a:pt x="481076" y="82511"/>
                </a:lnTo>
                <a:lnTo>
                  <a:pt x="454812" y="48793"/>
                </a:lnTo>
                <a:lnTo>
                  <a:pt x="420814" y="22745"/>
                </a:lnTo>
                <a:lnTo>
                  <a:pt x="380669" y="5956"/>
                </a:lnTo>
                <a:lnTo>
                  <a:pt x="336016" y="0"/>
                </a:lnTo>
                <a:lnTo>
                  <a:pt x="291350" y="5956"/>
                </a:lnTo>
                <a:lnTo>
                  <a:pt x="251218" y="22745"/>
                </a:lnTo>
                <a:lnTo>
                  <a:pt x="217208" y="48793"/>
                </a:lnTo>
                <a:lnTo>
                  <a:pt x="190944" y="82511"/>
                </a:lnTo>
                <a:lnTo>
                  <a:pt x="174002" y="122313"/>
                </a:lnTo>
                <a:lnTo>
                  <a:pt x="168008" y="166598"/>
                </a:lnTo>
                <a:lnTo>
                  <a:pt x="174002" y="210883"/>
                </a:lnTo>
                <a:lnTo>
                  <a:pt x="190944" y="250672"/>
                </a:lnTo>
                <a:lnTo>
                  <a:pt x="217208" y="284391"/>
                </a:lnTo>
                <a:lnTo>
                  <a:pt x="251218" y="310438"/>
                </a:lnTo>
                <a:lnTo>
                  <a:pt x="291350" y="327240"/>
                </a:lnTo>
                <a:lnTo>
                  <a:pt x="336016" y="333184"/>
                </a:lnTo>
                <a:lnTo>
                  <a:pt x="380682" y="327240"/>
                </a:lnTo>
                <a:lnTo>
                  <a:pt x="420814" y="310438"/>
                </a:lnTo>
                <a:lnTo>
                  <a:pt x="454812" y="284391"/>
                </a:lnTo>
                <a:lnTo>
                  <a:pt x="481076" y="250672"/>
                </a:lnTo>
                <a:lnTo>
                  <a:pt x="498017" y="210883"/>
                </a:lnTo>
                <a:lnTo>
                  <a:pt x="504024" y="166598"/>
                </a:lnTo>
                <a:close/>
              </a:path>
              <a:path w="672464" h="708025">
                <a:moveTo>
                  <a:pt x="672020" y="541426"/>
                </a:moveTo>
                <a:lnTo>
                  <a:pt x="652538" y="488721"/>
                </a:lnTo>
                <a:lnTo>
                  <a:pt x="601611" y="448957"/>
                </a:lnTo>
                <a:lnTo>
                  <a:pt x="561251" y="427418"/>
                </a:lnTo>
                <a:lnTo>
                  <a:pt x="518528" y="409778"/>
                </a:lnTo>
                <a:lnTo>
                  <a:pt x="474624" y="395655"/>
                </a:lnTo>
                <a:lnTo>
                  <a:pt x="408470" y="380568"/>
                </a:lnTo>
                <a:lnTo>
                  <a:pt x="336016" y="374840"/>
                </a:lnTo>
                <a:lnTo>
                  <a:pt x="301358" y="376326"/>
                </a:lnTo>
                <a:lnTo>
                  <a:pt x="232054" y="387134"/>
                </a:lnTo>
                <a:lnTo>
                  <a:pt x="153504" y="410362"/>
                </a:lnTo>
                <a:lnTo>
                  <a:pt x="110782" y="428980"/>
                </a:lnTo>
                <a:lnTo>
                  <a:pt x="70421" y="450710"/>
                </a:lnTo>
                <a:lnTo>
                  <a:pt x="33604" y="474789"/>
                </a:lnTo>
                <a:lnTo>
                  <a:pt x="8928" y="504990"/>
                </a:lnTo>
                <a:lnTo>
                  <a:pt x="0" y="541426"/>
                </a:lnTo>
                <a:lnTo>
                  <a:pt x="0" y="708012"/>
                </a:lnTo>
                <a:lnTo>
                  <a:pt x="672020" y="708012"/>
                </a:lnTo>
                <a:lnTo>
                  <a:pt x="672020" y="5414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113238" y="5707862"/>
            <a:ext cx="677545" cy="685800"/>
          </a:xfrm>
          <a:custGeom>
            <a:avLst/>
            <a:gdLst/>
            <a:ahLst/>
            <a:cxnLst/>
            <a:rect l="l" t="t" r="r" b="b"/>
            <a:pathLst>
              <a:path w="677545" h="685800">
                <a:moveTo>
                  <a:pt x="507771" y="161315"/>
                </a:moveTo>
                <a:lnTo>
                  <a:pt x="501726" y="118440"/>
                </a:lnTo>
                <a:lnTo>
                  <a:pt x="484657" y="79895"/>
                </a:lnTo>
                <a:lnTo>
                  <a:pt x="458190" y="47256"/>
                </a:lnTo>
                <a:lnTo>
                  <a:pt x="423938" y="22034"/>
                </a:lnTo>
                <a:lnTo>
                  <a:pt x="383501" y="5765"/>
                </a:lnTo>
                <a:lnTo>
                  <a:pt x="338505" y="0"/>
                </a:lnTo>
                <a:lnTo>
                  <a:pt x="293522" y="5765"/>
                </a:lnTo>
                <a:lnTo>
                  <a:pt x="253085" y="22034"/>
                </a:lnTo>
                <a:lnTo>
                  <a:pt x="218833" y="47256"/>
                </a:lnTo>
                <a:lnTo>
                  <a:pt x="192366" y="79895"/>
                </a:lnTo>
                <a:lnTo>
                  <a:pt x="175298" y="118440"/>
                </a:lnTo>
                <a:lnTo>
                  <a:pt x="169252" y="161315"/>
                </a:lnTo>
                <a:lnTo>
                  <a:pt x="175298" y="204203"/>
                </a:lnTo>
                <a:lnTo>
                  <a:pt x="192366" y="242735"/>
                </a:lnTo>
                <a:lnTo>
                  <a:pt x="218833" y="275386"/>
                </a:lnTo>
                <a:lnTo>
                  <a:pt x="253085" y="300609"/>
                </a:lnTo>
                <a:lnTo>
                  <a:pt x="293522" y="316877"/>
                </a:lnTo>
                <a:lnTo>
                  <a:pt x="338518" y="322630"/>
                </a:lnTo>
                <a:lnTo>
                  <a:pt x="383501" y="316877"/>
                </a:lnTo>
                <a:lnTo>
                  <a:pt x="423938" y="300609"/>
                </a:lnTo>
                <a:lnTo>
                  <a:pt x="458190" y="275386"/>
                </a:lnTo>
                <a:lnTo>
                  <a:pt x="484657" y="242735"/>
                </a:lnTo>
                <a:lnTo>
                  <a:pt x="501726" y="204203"/>
                </a:lnTo>
                <a:lnTo>
                  <a:pt x="507771" y="161315"/>
                </a:lnTo>
                <a:close/>
              </a:path>
              <a:path w="677545" h="685800">
                <a:moveTo>
                  <a:pt x="677024" y="524281"/>
                </a:moveTo>
                <a:lnTo>
                  <a:pt x="657390" y="473240"/>
                </a:lnTo>
                <a:lnTo>
                  <a:pt x="606082" y="434733"/>
                </a:lnTo>
                <a:lnTo>
                  <a:pt x="565416" y="413880"/>
                </a:lnTo>
                <a:lnTo>
                  <a:pt x="522376" y="396798"/>
                </a:lnTo>
                <a:lnTo>
                  <a:pt x="478155" y="383133"/>
                </a:lnTo>
                <a:lnTo>
                  <a:pt x="411505" y="368503"/>
                </a:lnTo>
                <a:lnTo>
                  <a:pt x="338518" y="362966"/>
                </a:lnTo>
                <a:lnTo>
                  <a:pt x="303606" y="364413"/>
                </a:lnTo>
                <a:lnTo>
                  <a:pt x="233781" y="374878"/>
                </a:lnTo>
                <a:lnTo>
                  <a:pt x="154647" y="397370"/>
                </a:lnTo>
                <a:lnTo>
                  <a:pt x="111607" y="415391"/>
                </a:lnTo>
                <a:lnTo>
                  <a:pt x="70942" y="436435"/>
                </a:lnTo>
                <a:lnTo>
                  <a:pt x="33845" y="459752"/>
                </a:lnTo>
                <a:lnTo>
                  <a:pt x="8991" y="488988"/>
                </a:lnTo>
                <a:lnTo>
                  <a:pt x="0" y="524281"/>
                </a:lnTo>
                <a:lnTo>
                  <a:pt x="0" y="685596"/>
                </a:lnTo>
                <a:lnTo>
                  <a:pt x="677024" y="685596"/>
                </a:lnTo>
                <a:lnTo>
                  <a:pt x="677024" y="5242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76439" y="4487621"/>
            <a:ext cx="811530" cy="982980"/>
          </a:xfrm>
          <a:custGeom>
            <a:avLst/>
            <a:gdLst/>
            <a:ahLst/>
            <a:cxnLst/>
            <a:rect l="l" t="t" r="r" b="b"/>
            <a:pathLst>
              <a:path w="811530" h="982979">
                <a:moveTo>
                  <a:pt x="758215" y="938555"/>
                </a:moveTo>
                <a:lnTo>
                  <a:pt x="666597" y="938555"/>
                </a:lnTo>
                <a:lnTo>
                  <a:pt x="666597" y="865746"/>
                </a:lnTo>
                <a:lnTo>
                  <a:pt x="666597" y="858799"/>
                </a:lnTo>
                <a:lnTo>
                  <a:pt x="666597" y="729348"/>
                </a:lnTo>
                <a:lnTo>
                  <a:pt x="666597" y="725881"/>
                </a:lnTo>
                <a:lnTo>
                  <a:pt x="666597" y="650748"/>
                </a:lnTo>
                <a:lnTo>
                  <a:pt x="664260" y="639406"/>
                </a:lnTo>
                <a:lnTo>
                  <a:pt x="657860" y="630237"/>
                </a:lnTo>
                <a:lnTo>
                  <a:pt x="648296" y="624090"/>
                </a:lnTo>
                <a:lnTo>
                  <a:pt x="636460" y="621855"/>
                </a:lnTo>
                <a:lnTo>
                  <a:pt x="553288" y="621855"/>
                </a:lnTo>
                <a:lnTo>
                  <a:pt x="553288" y="794080"/>
                </a:lnTo>
                <a:lnTo>
                  <a:pt x="485787" y="858799"/>
                </a:lnTo>
                <a:lnTo>
                  <a:pt x="468909" y="842619"/>
                </a:lnTo>
                <a:lnTo>
                  <a:pt x="519531" y="794080"/>
                </a:lnTo>
                <a:lnTo>
                  <a:pt x="468909" y="745528"/>
                </a:lnTo>
                <a:lnTo>
                  <a:pt x="485787" y="729348"/>
                </a:lnTo>
                <a:lnTo>
                  <a:pt x="553288" y="794080"/>
                </a:lnTo>
                <a:lnTo>
                  <a:pt x="553288" y="621855"/>
                </a:lnTo>
                <a:lnTo>
                  <a:pt x="446011" y="621855"/>
                </a:lnTo>
                <a:lnTo>
                  <a:pt x="446011" y="735126"/>
                </a:lnTo>
                <a:lnTo>
                  <a:pt x="389343" y="865746"/>
                </a:lnTo>
                <a:lnTo>
                  <a:pt x="370370" y="857643"/>
                </a:lnTo>
                <a:lnTo>
                  <a:pt x="367652" y="856488"/>
                </a:lnTo>
                <a:lnTo>
                  <a:pt x="423303" y="728192"/>
                </a:lnTo>
                <a:lnTo>
                  <a:pt x="424307" y="725881"/>
                </a:lnTo>
                <a:lnTo>
                  <a:pt x="446011" y="735126"/>
                </a:lnTo>
                <a:lnTo>
                  <a:pt x="446011" y="621855"/>
                </a:lnTo>
                <a:lnTo>
                  <a:pt x="343547" y="621855"/>
                </a:lnTo>
                <a:lnTo>
                  <a:pt x="343547" y="744372"/>
                </a:lnTo>
                <a:lnTo>
                  <a:pt x="292912" y="792924"/>
                </a:lnTo>
                <a:lnTo>
                  <a:pt x="343547" y="841463"/>
                </a:lnTo>
                <a:lnTo>
                  <a:pt x="326669" y="857643"/>
                </a:lnTo>
                <a:lnTo>
                  <a:pt x="259168" y="792924"/>
                </a:lnTo>
                <a:lnTo>
                  <a:pt x="326669" y="728192"/>
                </a:lnTo>
                <a:lnTo>
                  <a:pt x="343547" y="744372"/>
                </a:lnTo>
                <a:lnTo>
                  <a:pt x="343547" y="621855"/>
                </a:lnTo>
                <a:lnTo>
                  <a:pt x="177190" y="621855"/>
                </a:lnTo>
                <a:lnTo>
                  <a:pt x="165366" y="624090"/>
                </a:lnTo>
                <a:lnTo>
                  <a:pt x="155803" y="630237"/>
                </a:lnTo>
                <a:lnTo>
                  <a:pt x="149390" y="639406"/>
                </a:lnTo>
                <a:lnTo>
                  <a:pt x="147053" y="650748"/>
                </a:lnTo>
                <a:lnTo>
                  <a:pt x="147053" y="938555"/>
                </a:lnTo>
                <a:lnTo>
                  <a:pt x="55448" y="938555"/>
                </a:lnTo>
                <a:lnTo>
                  <a:pt x="55448" y="953592"/>
                </a:lnTo>
                <a:lnTo>
                  <a:pt x="57785" y="964933"/>
                </a:lnTo>
                <a:lnTo>
                  <a:pt x="64185" y="974102"/>
                </a:lnTo>
                <a:lnTo>
                  <a:pt x="73748" y="980249"/>
                </a:lnTo>
                <a:lnTo>
                  <a:pt x="85585" y="982484"/>
                </a:lnTo>
                <a:lnTo>
                  <a:pt x="728078" y="982484"/>
                </a:lnTo>
                <a:lnTo>
                  <a:pt x="739902" y="980249"/>
                </a:lnTo>
                <a:lnTo>
                  <a:pt x="749477" y="974102"/>
                </a:lnTo>
                <a:lnTo>
                  <a:pt x="755878" y="964933"/>
                </a:lnTo>
                <a:lnTo>
                  <a:pt x="758215" y="953592"/>
                </a:lnTo>
                <a:lnTo>
                  <a:pt x="758215" y="938555"/>
                </a:lnTo>
                <a:close/>
              </a:path>
              <a:path w="811530" h="982979">
                <a:moveTo>
                  <a:pt x="811250" y="820661"/>
                </a:moveTo>
                <a:lnTo>
                  <a:pt x="791959" y="646125"/>
                </a:lnTo>
                <a:lnTo>
                  <a:pt x="779602" y="598589"/>
                </a:lnTo>
                <a:lnTo>
                  <a:pt x="747356" y="560590"/>
                </a:lnTo>
                <a:lnTo>
                  <a:pt x="712419" y="536155"/>
                </a:lnTo>
                <a:lnTo>
                  <a:pt x="684809" y="521296"/>
                </a:lnTo>
                <a:lnTo>
                  <a:pt x="674890" y="515950"/>
                </a:lnTo>
                <a:lnTo>
                  <a:pt x="657694" y="508571"/>
                </a:lnTo>
                <a:lnTo>
                  <a:pt x="635317" y="498983"/>
                </a:lnTo>
                <a:lnTo>
                  <a:pt x="594271" y="484301"/>
                </a:lnTo>
                <a:lnTo>
                  <a:pt x="535203" y="461187"/>
                </a:lnTo>
                <a:lnTo>
                  <a:pt x="530390" y="458876"/>
                </a:lnTo>
                <a:lnTo>
                  <a:pt x="527977" y="455409"/>
                </a:lnTo>
                <a:lnTo>
                  <a:pt x="527977" y="448475"/>
                </a:lnTo>
                <a:lnTo>
                  <a:pt x="527977" y="423037"/>
                </a:lnTo>
                <a:lnTo>
                  <a:pt x="558596" y="393801"/>
                </a:lnTo>
                <a:lnTo>
                  <a:pt x="581317" y="359041"/>
                </a:lnTo>
                <a:lnTo>
                  <a:pt x="595439" y="320154"/>
                </a:lnTo>
                <a:lnTo>
                  <a:pt x="600303" y="278561"/>
                </a:lnTo>
                <a:lnTo>
                  <a:pt x="600303" y="236943"/>
                </a:lnTo>
                <a:lnTo>
                  <a:pt x="607529" y="241566"/>
                </a:lnTo>
                <a:lnTo>
                  <a:pt x="624408" y="243878"/>
                </a:lnTo>
                <a:lnTo>
                  <a:pt x="621944" y="236943"/>
                </a:lnTo>
                <a:lnTo>
                  <a:pt x="603910" y="186093"/>
                </a:lnTo>
                <a:lnTo>
                  <a:pt x="599097" y="169913"/>
                </a:lnTo>
                <a:lnTo>
                  <a:pt x="597890" y="161810"/>
                </a:lnTo>
                <a:lnTo>
                  <a:pt x="594639" y="150253"/>
                </a:lnTo>
                <a:lnTo>
                  <a:pt x="585025" y="116052"/>
                </a:lnTo>
                <a:lnTo>
                  <a:pt x="561873" y="77431"/>
                </a:lnTo>
                <a:lnTo>
                  <a:pt x="550875" y="66535"/>
                </a:lnTo>
                <a:lnTo>
                  <a:pt x="550875" y="196494"/>
                </a:lnTo>
                <a:lnTo>
                  <a:pt x="550875" y="277406"/>
                </a:lnTo>
                <a:lnTo>
                  <a:pt x="543471" y="321119"/>
                </a:lnTo>
                <a:lnTo>
                  <a:pt x="522871" y="359181"/>
                </a:lnTo>
                <a:lnTo>
                  <a:pt x="501459" y="379730"/>
                </a:lnTo>
                <a:lnTo>
                  <a:pt x="501459" y="495858"/>
                </a:lnTo>
                <a:lnTo>
                  <a:pt x="477735" y="501916"/>
                </a:lnTo>
                <a:lnTo>
                  <a:pt x="453694" y="506120"/>
                </a:lnTo>
                <a:lnTo>
                  <a:pt x="429412" y="508381"/>
                </a:lnTo>
                <a:lnTo>
                  <a:pt x="405015" y="508571"/>
                </a:lnTo>
                <a:lnTo>
                  <a:pt x="381330" y="507733"/>
                </a:lnTo>
                <a:lnTo>
                  <a:pt x="357403" y="505256"/>
                </a:lnTo>
                <a:lnTo>
                  <a:pt x="333489" y="501256"/>
                </a:lnTo>
                <a:lnTo>
                  <a:pt x="309791" y="495858"/>
                </a:lnTo>
                <a:lnTo>
                  <a:pt x="319659" y="486854"/>
                </a:lnTo>
                <a:lnTo>
                  <a:pt x="327266" y="475780"/>
                </a:lnTo>
                <a:lnTo>
                  <a:pt x="332168" y="463194"/>
                </a:lnTo>
                <a:lnTo>
                  <a:pt x="333895" y="449630"/>
                </a:lnTo>
                <a:lnTo>
                  <a:pt x="333895" y="448475"/>
                </a:lnTo>
                <a:lnTo>
                  <a:pt x="369379" y="458876"/>
                </a:lnTo>
                <a:lnTo>
                  <a:pt x="406222" y="462343"/>
                </a:lnTo>
                <a:lnTo>
                  <a:pt x="443064" y="458876"/>
                </a:lnTo>
                <a:lnTo>
                  <a:pt x="478548" y="448475"/>
                </a:lnTo>
                <a:lnTo>
                  <a:pt x="478548" y="449630"/>
                </a:lnTo>
                <a:lnTo>
                  <a:pt x="480098" y="462546"/>
                </a:lnTo>
                <a:lnTo>
                  <a:pt x="484581" y="474916"/>
                </a:lnTo>
                <a:lnTo>
                  <a:pt x="491769" y="486194"/>
                </a:lnTo>
                <a:lnTo>
                  <a:pt x="501459" y="495858"/>
                </a:lnTo>
                <a:lnTo>
                  <a:pt x="501459" y="379730"/>
                </a:lnTo>
                <a:lnTo>
                  <a:pt x="491515" y="389255"/>
                </a:lnTo>
                <a:lnTo>
                  <a:pt x="451815" y="409003"/>
                </a:lnTo>
                <a:lnTo>
                  <a:pt x="406222" y="416102"/>
                </a:lnTo>
                <a:lnTo>
                  <a:pt x="362597" y="409752"/>
                </a:lnTo>
                <a:lnTo>
                  <a:pt x="324243" y="391922"/>
                </a:lnTo>
                <a:lnTo>
                  <a:pt x="293230" y="364426"/>
                </a:lnTo>
                <a:lnTo>
                  <a:pt x="271640" y="329107"/>
                </a:lnTo>
                <a:lnTo>
                  <a:pt x="264960" y="301675"/>
                </a:lnTo>
                <a:lnTo>
                  <a:pt x="261569" y="287807"/>
                </a:lnTo>
                <a:lnTo>
                  <a:pt x="305104" y="272884"/>
                </a:lnTo>
                <a:lnTo>
                  <a:pt x="351853" y="254711"/>
                </a:lnTo>
                <a:lnTo>
                  <a:pt x="398995" y="233337"/>
                </a:lnTo>
                <a:lnTo>
                  <a:pt x="443725" y="208775"/>
                </a:lnTo>
                <a:lnTo>
                  <a:pt x="483235" y="181076"/>
                </a:lnTo>
                <a:lnTo>
                  <a:pt x="514718" y="150253"/>
                </a:lnTo>
                <a:lnTo>
                  <a:pt x="523074" y="162191"/>
                </a:lnTo>
                <a:lnTo>
                  <a:pt x="531888" y="173812"/>
                </a:lnTo>
                <a:lnTo>
                  <a:pt x="541159" y="185204"/>
                </a:lnTo>
                <a:lnTo>
                  <a:pt x="550875" y="196494"/>
                </a:lnTo>
                <a:lnTo>
                  <a:pt x="550875" y="66535"/>
                </a:lnTo>
                <a:lnTo>
                  <a:pt x="529920" y="45758"/>
                </a:lnTo>
                <a:lnTo>
                  <a:pt x="505167" y="30048"/>
                </a:lnTo>
                <a:lnTo>
                  <a:pt x="490601" y="20802"/>
                </a:lnTo>
                <a:lnTo>
                  <a:pt x="485787" y="18491"/>
                </a:lnTo>
                <a:lnTo>
                  <a:pt x="479755" y="18491"/>
                </a:lnTo>
                <a:lnTo>
                  <a:pt x="474814" y="22047"/>
                </a:lnTo>
                <a:lnTo>
                  <a:pt x="464083" y="30048"/>
                </a:lnTo>
                <a:lnTo>
                  <a:pt x="452031" y="13868"/>
                </a:lnTo>
                <a:lnTo>
                  <a:pt x="413156" y="215"/>
                </a:lnTo>
                <a:lnTo>
                  <a:pt x="405015" y="0"/>
                </a:lnTo>
                <a:lnTo>
                  <a:pt x="358927" y="5740"/>
                </a:lnTo>
                <a:lnTo>
                  <a:pt x="316750" y="22047"/>
                </a:lnTo>
                <a:lnTo>
                  <a:pt x="279806" y="47523"/>
                </a:lnTo>
                <a:lnTo>
                  <a:pt x="249389" y="80822"/>
                </a:lnTo>
                <a:lnTo>
                  <a:pt x="226796" y="120535"/>
                </a:lnTo>
                <a:lnTo>
                  <a:pt x="213360" y="165277"/>
                </a:lnTo>
                <a:lnTo>
                  <a:pt x="213360" y="193027"/>
                </a:lnTo>
                <a:lnTo>
                  <a:pt x="212432" y="211874"/>
                </a:lnTo>
                <a:lnTo>
                  <a:pt x="209588" y="230301"/>
                </a:lnTo>
                <a:lnTo>
                  <a:pt x="204711" y="248285"/>
                </a:lnTo>
                <a:lnTo>
                  <a:pt x="197688" y="265849"/>
                </a:lnTo>
                <a:lnTo>
                  <a:pt x="177190" y="312077"/>
                </a:lnTo>
                <a:lnTo>
                  <a:pt x="185928" y="309968"/>
                </a:lnTo>
                <a:lnTo>
                  <a:pt x="192862" y="308178"/>
                </a:lnTo>
                <a:lnTo>
                  <a:pt x="215773" y="301675"/>
                </a:lnTo>
                <a:lnTo>
                  <a:pt x="223812" y="336207"/>
                </a:lnTo>
                <a:lnTo>
                  <a:pt x="238518" y="368134"/>
                </a:lnTo>
                <a:lnTo>
                  <a:pt x="259334" y="396608"/>
                </a:lnTo>
                <a:lnTo>
                  <a:pt x="285686" y="420725"/>
                </a:lnTo>
                <a:lnTo>
                  <a:pt x="285686" y="454253"/>
                </a:lnTo>
                <a:lnTo>
                  <a:pt x="283273" y="458876"/>
                </a:lnTo>
                <a:lnTo>
                  <a:pt x="278447" y="460032"/>
                </a:lnTo>
                <a:lnTo>
                  <a:pt x="219379" y="483146"/>
                </a:lnTo>
                <a:lnTo>
                  <a:pt x="178346" y="497827"/>
                </a:lnTo>
                <a:lnTo>
                  <a:pt x="138772" y="514794"/>
                </a:lnTo>
                <a:lnTo>
                  <a:pt x="101231" y="535000"/>
                </a:lnTo>
                <a:lnTo>
                  <a:pt x="66294" y="559435"/>
                </a:lnTo>
                <a:lnTo>
                  <a:pt x="33451" y="597433"/>
                </a:lnTo>
                <a:lnTo>
                  <a:pt x="20485" y="644969"/>
                </a:lnTo>
                <a:lnTo>
                  <a:pt x="0" y="820661"/>
                </a:lnTo>
                <a:lnTo>
                  <a:pt x="127" y="839546"/>
                </a:lnTo>
                <a:lnTo>
                  <a:pt x="30137" y="885393"/>
                </a:lnTo>
                <a:lnTo>
                  <a:pt x="73863" y="907986"/>
                </a:lnTo>
                <a:lnTo>
                  <a:pt x="89204" y="914285"/>
                </a:lnTo>
                <a:lnTo>
                  <a:pt x="122948" y="914285"/>
                </a:lnTo>
                <a:lnTo>
                  <a:pt x="122948" y="878459"/>
                </a:lnTo>
                <a:lnTo>
                  <a:pt x="105994" y="872134"/>
                </a:lnTo>
                <a:lnTo>
                  <a:pt x="89496" y="865162"/>
                </a:lnTo>
                <a:lnTo>
                  <a:pt x="73456" y="857326"/>
                </a:lnTo>
                <a:lnTo>
                  <a:pt x="57861" y="848398"/>
                </a:lnTo>
                <a:lnTo>
                  <a:pt x="50622" y="843775"/>
                </a:lnTo>
                <a:lnTo>
                  <a:pt x="47002" y="835685"/>
                </a:lnTo>
                <a:lnTo>
                  <a:pt x="48209" y="827595"/>
                </a:lnTo>
                <a:lnTo>
                  <a:pt x="68707" y="649592"/>
                </a:lnTo>
                <a:lnTo>
                  <a:pt x="68707" y="647280"/>
                </a:lnTo>
                <a:lnTo>
                  <a:pt x="70662" y="632167"/>
                </a:lnTo>
                <a:lnTo>
                  <a:pt x="96431" y="595261"/>
                </a:lnTo>
                <a:lnTo>
                  <a:pt x="161671" y="555967"/>
                </a:lnTo>
                <a:lnTo>
                  <a:pt x="197624" y="540651"/>
                </a:lnTo>
                <a:lnTo>
                  <a:pt x="235051" y="527075"/>
                </a:lnTo>
                <a:lnTo>
                  <a:pt x="254342" y="521296"/>
                </a:lnTo>
                <a:lnTo>
                  <a:pt x="284175" y="535305"/>
                </a:lnTo>
                <a:lnTo>
                  <a:pt x="320344" y="545858"/>
                </a:lnTo>
                <a:lnTo>
                  <a:pt x="361480" y="552500"/>
                </a:lnTo>
                <a:lnTo>
                  <a:pt x="406222" y="554812"/>
                </a:lnTo>
                <a:lnTo>
                  <a:pt x="451002" y="552500"/>
                </a:lnTo>
                <a:lnTo>
                  <a:pt x="492264" y="545858"/>
                </a:lnTo>
                <a:lnTo>
                  <a:pt x="528789" y="535305"/>
                </a:lnTo>
                <a:lnTo>
                  <a:pt x="559320" y="521296"/>
                </a:lnTo>
                <a:lnTo>
                  <a:pt x="577392" y="527075"/>
                </a:lnTo>
                <a:lnTo>
                  <a:pt x="614819" y="540651"/>
                </a:lnTo>
                <a:lnTo>
                  <a:pt x="650773" y="555967"/>
                </a:lnTo>
                <a:lnTo>
                  <a:pt x="684695" y="573887"/>
                </a:lnTo>
                <a:lnTo>
                  <a:pt x="727278" y="605828"/>
                </a:lnTo>
                <a:lnTo>
                  <a:pt x="742543" y="647280"/>
                </a:lnTo>
                <a:lnTo>
                  <a:pt x="764235" y="826439"/>
                </a:lnTo>
                <a:lnTo>
                  <a:pt x="739000" y="856335"/>
                </a:lnTo>
                <a:lnTo>
                  <a:pt x="689495" y="877303"/>
                </a:lnTo>
                <a:lnTo>
                  <a:pt x="689495" y="914285"/>
                </a:lnTo>
                <a:lnTo>
                  <a:pt x="722045" y="914285"/>
                </a:lnTo>
                <a:lnTo>
                  <a:pt x="737374" y="907986"/>
                </a:lnTo>
                <a:lnTo>
                  <a:pt x="781113" y="885393"/>
                </a:lnTo>
                <a:lnTo>
                  <a:pt x="811123" y="839558"/>
                </a:lnTo>
                <a:lnTo>
                  <a:pt x="811250" y="8206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010300" y="4778039"/>
            <a:ext cx="829310" cy="320040"/>
          </a:xfrm>
          <a:custGeom>
            <a:avLst/>
            <a:gdLst/>
            <a:ahLst/>
            <a:cxnLst/>
            <a:rect l="l" t="t" r="r" b="b"/>
            <a:pathLst>
              <a:path w="829310" h="320039">
                <a:moveTo>
                  <a:pt x="828725" y="160660"/>
                </a:moveTo>
                <a:lnTo>
                  <a:pt x="688423" y="8466"/>
                </a:lnTo>
                <a:lnTo>
                  <a:pt x="669301" y="0"/>
                </a:lnTo>
                <a:lnTo>
                  <a:pt x="658974" y="1749"/>
                </a:lnTo>
                <a:lnTo>
                  <a:pt x="648848" y="8466"/>
                </a:lnTo>
                <a:lnTo>
                  <a:pt x="642626" y="17353"/>
                </a:lnTo>
                <a:lnTo>
                  <a:pt x="640374" y="27578"/>
                </a:lnTo>
                <a:lnTo>
                  <a:pt x="642124" y="37899"/>
                </a:lnTo>
                <a:lnTo>
                  <a:pt x="648848" y="48019"/>
                </a:lnTo>
                <a:lnTo>
                  <a:pt x="732662" y="131787"/>
                </a:lnTo>
                <a:lnTo>
                  <a:pt x="28267" y="131787"/>
                </a:lnTo>
                <a:lnTo>
                  <a:pt x="17264" y="134008"/>
                </a:lnTo>
                <a:lnTo>
                  <a:pt x="8279" y="140063"/>
                </a:lnTo>
                <a:lnTo>
                  <a:pt x="2221" y="149043"/>
                </a:lnTo>
                <a:lnTo>
                  <a:pt x="0" y="160039"/>
                </a:lnTo>
                <a:lnTo>
                  <a:pt x="2221" y="171036"/>
                </a:lnTo>
                <a:lnTo>
                  <a:pt x="8279" y="180016"/>
                </a:lnTo>
                <a:lnTo>
                  <a:pt x="17264" y="186071"/>
                </a:lnTo>
                <a:lnTo>
                  <a:pt x="28267" y="188245"/>
                </a:lnTo>
                <a:lnTo>
                  <a:pt x="732694" y="188245"/>
                </a:lnTo>
                <a:lnTo>
                  <a:pt x="648833" y="272060"/>
                </a:lnTo>
                <a:lnTo>
                  <a:pt x="642684" y="281312"/>
                </a:lnTo>
                <a:lnTo>
                  <a:pt x="640635" y="291836"/>
                </a:lnTo>
                <a:lnTo>
                  <a:pt x="642684" y="302360"/>
                </a:lnTo>
                <a:lnTo>
                  <a:pt x="648833" y="311613"/>
                </a:lnTo>
                <a:lnTo>
                  <a:pt x="658087" y="317757"/>
                </a:lnTo>
                <a:lnTo>
                  <a:pt x="668617" y="319806"/>
                </a:lnTo>
                <a:lnTo>
                  <a:pt x="679149" y="317757"/>
                </a:lnTo>
                <a:lnTo>
                  <a:pt x="688407" y="311613"/>
                </a:lnTo>
                <a:lnTo>
                  <a:pt x="820245" y="179769"/>
                </a:lnTo>
                <a:lnTo>
                  <a:pt x="826465" y="170885"/>
                </a:lnTo>
                <a:lnTo>
                  <a:pt x="828725" y="1606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1582400" y="0"/>
            <a:ext cx="609600" cy="204470"/>
          </a:xfrm>
          <a:prstGeom prst="rect">
            <a:avLst/>
          </a:prstGeom>
          <a:ln w="15875">
            <a:solidFill>
              <a:srgbClr val="13234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635">
              <a:lnSpc>
                <a:spcPts val="1550"/>
              </a:lnSpc>
            </a:pPr>
            <a:r>
              <a:rPr dirty="0" sz="1400" spc="-25" b="1">
                <a:latin typeface="Carlito"/>
                <a:cs typeface="Carlito"/>
              </a:rPr>
              <a:t>17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013343" y="3504717"/>
            <a:ext cx="829310" cy="622935"/>
          </a:xfrm>
          <a:custGeom>
            <a:avLst/>
            <a:gdLst/>
            <a:ahLst/>
            <a:cxnLst/>
            <a:rect l="l" t="t" r="r" b="b"/>
            <a:pathLst>
              <a:path w="829310" h="622935">
                <a:moveTo>
                  <a:pt x="828713" y="462394"/>
                </a:moveTo>
                <a:lnTo>
                  <a:pt x="688594" y="310502"/>
                </a:lnTo>
                <a:lnTo>
                  <a:pt x="669340" y="302920"/>
                </a:lnTo>
                <a:lnTo>
                  <a:pt x="659155" y="304812"/>
                </a:lnTo>
                <a:lnTo>
                  <a:pt x="650087" y="310502"/>
                </a:lnTo>
                <a:lnTo>
                  <a:pt x="643547" y="319633"/>
                </a:lnTo>
                <a:lnTo>
                  <a:pt x="641108" y="330187"/>
                </a:lnTo>
                <a:lnTo>
                  <a:pt x="642797" y="340893"/>
                </a:lnTo>
                <a:lnTo>
                  <a:pt x="648665" y="350456"/>
                </a:lnTo>
                <a:lnTo>
                  <a:pt x="732294" y="434124"/>
                </a:lnTo>
                <a:lnTo>
                  <a:pt x="28244" y="434124"/>
                </a:lnTo>
                <a:lnTo>
                  <a:pt x="17259" y="436346"/>
                </a:lnTo>
                <a:lnTo>
                  <a:pt x="8267" y="442404"/>
                </a:lnTo>
                <a:lnTo>
                  <a:pt x="2222" y="451396"/>
                </a:lnTo>
                <a:lnTo>
                  <a:pt x="0" y="462394"/>
                </a:lnTo>
                <a:lnTo>
                  <a:pt x="2222" y="473405"/>
                </a:lnTo>
                <a:lnTo>
                  <a:pt x="8267" y="482384"/>
                </a:lnTo>
                <a:lnTo>
                  <a:pt x="17259" y="488442"/>
                </a:lnTo>
                <a:lnTo>
                  <a:pt x="28244" y="490664"/>
                </a:lnTo>
                <a:lnTo>
                  <a:pt x="732294" y="490664"/>
                </a:lnTo>
                <a:lnTo>
                  <a:pt x="648665" y="574332"/>
                </a:lnTo>
                <a:lnTo>
                  <a:pt x="642467" y="583679"/>
                </a:lnTo>
                <a:lnTo>
                  <a:pt x="640410" y="594309"/>
                </a:lnTo>
                <a:lnTo>
                  <a:pt x="642467" y="604939"/>
                </a:lnTo>
                <a:lnTo>
                  <a:pt x="648665" y="614286"/>
                </a:lnTo>
                <a:lnTo>
                  <a:pt x="658012" y="620496"/>
                </a:lnTo>
                <a:lnTo>
                  <a:pt x="668629" y="622554"/>
                </a:lnTo>
                <a:lnTo>
                  <a:pt x="679259" y="620496"/>
                </a:lnTo>
                <a:lnTo>
                  <a:pt x="688594" y="614286"/>
                </a:lnTo>
                <a:lnTo>
                  <a:pt x="820407" y="482371"/>
                </a:lnTo>
                <a:lnTo>
                  <a:pt x="826630" y="473024"/>
                </a:lnTo>
                <a:lnTo>
                  <a:pt x="828713" y="462394"/>
                </a:lnTo>
                <a:close/>
              </a:path>
              <a:path w="829310" h="622935">
                <a:moveTo>
                  <a:pt x="828725" y="160870"/>
                </a:moveTo>
                <a:lnTo>
                  <a:pt x="826516" y="149872"/>
                </a:lnTo>
                <a:lnTo>
                  <a:pt x="820458" y="140881"/>
                </a:lnTo>
                <a:lnTo>
                  <a:pt x="811479" y="134823"/>
                </a:lnTo>
                <a:lnTo>
                  <a:pt x="800481" y="132600"/>
                </a:lnTo>
                <a:lnTo>
                  <a:pt x="96431" y="132600"/>
                </a:lnTo>
                <a:lnTo>
                  <a:pt x="180060" y="48933"/>
                </a:lnTo>
                <a:lnTo>
                  <a:pt x="186588" y="39814"/>
                </a:lnTo>
                <a:lnTo>
                  <a:pt x="189039" y="29248"/>
                </a:lnTo>
                <a:lnTo>
                  <a:pt x="187337" y="18554"/>
                </a:lnTo>
                <a:lnTo>
                  <a:pt x="181470" y="8978"/>
                </a:lnTo>
                <a:lnTo>
                  <a:pt x="172351" y="2451"/>
                </a:lnTo>
                <a:lnTo>
                  <a:pt x="161798" y="0"/>
                </a:lnTo>
                <a:lnTo>
                  <a:pt x="151091" y="1689"/>
                </a:lnTo>
                <a:lnTo>
                  <a:pt x="140589" y="8496"/>
                </a:lnTo>
                <a:lnTo>
                  <a:pt x="8280" y="140893"/>
                </a:lnTo>
                <a:lnTo>
                  <a:pt x="2082" y="150241"/>
                </a:lnTo>
                <a:lnTo>
                  <a:pt x="25" y="160870"/>
                </a:lnTo>
                <a:lnTo>
                  <a:pt x="2082" y="171500"/>
                </a:lnTo>
                <a:lnTo>
                  <a:pt x="8280" y="180848"/>
                </a:lnTo>
                <a:lnTo>
                  <a:pt x="140131" y="312762"/>
                </a:lnTo>
                <a:lnTo>
                  <a:pt x="149466" y="318973"/>
                </a:lnTo>
                <a:lnTo>
                  <a:pt x="160096" y="321030"/>
                </a:lnTo>
                <a:lnTo>
                  <a:pt x="170713" y="318973"/>
                </a:lnTo>
                <a:lnTo>
                  <a:pt x="186258" y="282168"/>
                </a:lnTo>
                <a:lnTo>
                  <a:pt x="96431" y="189141"/>
                </a:lnTo>
                <a:lnTo>
                  <a:pt x="800481" y="189141"/>
                </a:lnTo>
                <a:lnTo>
                  <a:pt x="811479" y="186918"/>
                </a:lnTo>
                <a:lnTo>
                  <a:pt x="820458" y="180860"/>
                </a:lnTo>
                <a:lnTo>
                  <a:pt x="826516" y="171881"/>
                </a:lnTo>
                <a:lnTo>
                  <a:pt x="828725" y="1608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186277" y="3555567"/>
            <a:ext cx="866775" cy="527685"/>
          </a:xfrm>
          <a:custGeom>
            <a:avLst/>
            <a:gdLst/>
            <a:ahLst/>
            <a:cxnLst/>
            <a:rect l="l" t="t" r="r" b="b"/>
            <a:pathLst>
              <a:path w="866775" h="527685">
                <a:moveTo>
                  <a:pt x="565035" y="37693"/>
                </a:moveTo>
                <a:lnTo>
                  <a:pt x="562063" y="23050"/>
                </a:lnTo>
                <a:lnTo>
                  <a:pt x="553974" y="11074"/>
                </a:lnTo>
                <a:lnTo>
                  <a:pt x="541997" y="2971"/>
                </a:lnTo>
                <a:lnTo>
                  <a:pt x="527367" y="0"/>
                </a:lnTo>
                <a:lnTo>
                  <a:pt x="508533" y="0"/>
                </a:lnTo>
                <a:lnTo>
                  <a:pt x="508533" y="56540"/>
                </a:lnTo>
                <a:lnTo>
                  <a:pt x="508533" y="358063"/>
                </a:lnTo>
                <a:lnTo>
                  <a:pt x="56502" y="358063"/>
                </a:lnTo>
                <a:lnTo>
                  <a:pt x="56502" y="56540"/>
                </a:lnTo>
                <a:lnTo>
                  <a:pt x="508533" y="56540"/>
                </a:lnTo>
                <a:lnTo>
                  <a:pt x="508533" y="0"/>
                </a:lnTo>
                <a:lnTo>
                  <a:pt x="37668" y="0"/>
                </a:lnTo>
                <a:lnTo>
                  <a:pt x="23037" y="2971"/>
                </a:lnTo>
                <a:lnTo>
                  <a:pt x="11061" y="11074"/>
                </a:lnTo>
                <a:lnTo>
                  <a:pt x="2971" y="23050"/>
                </a:lnTo>
                <a:lnTo>
                  <a:pt x="0" y="37693"/>
                </a:lnTo>
                <a:lnTo>
                  <a:pt x="0" y="376897"/>
                </a:lnTo>
                <a:lnTo>
                  <a:pt x="2971" y="391541"/>
                </a:lnTo>
                <a:lnTo>
                  <a:pt x="11061" y="403517"/>
                </a:lnTo>
                <a:lnTo>
                  <a:pt x="23037" y="411619"/>
                </a:lnTo>
                <a:lnTo>
                  <a:pt x="37668" y="414591"/>
                </a:lnTo>
                <a:lnTo>
                  <a:pt x="226009" y="414591"/>
                </a:lnTo>
                <a:lnTo>
                  <a:pt x="226009" y="471131"/>
                </a:lnTo>
                <a:lnTo>
                  <a:pt x="141262" y="471131"/>
                </a:lnTo>
                <a:lnTo>
                  <a:pt x="141262" y="527659"/>
                </a:lnTo>
                <a:lnTo>
                  <a:pt x="423786" y="527659"/>
                </a:lnTo>
                <a:lnTo>
                  <a:pt x="423786" y="471131"/>
                </a:lnTo>
                <a:lnTo>
                  <a:pt x="339026" y="471131"/>
                </a:lnTo>
                <a:lnTo>
                  <a:pt x="339026" y="414591"/>
                </a:lnTo>
                <a:lnTo>
                  <a:pt x="527367" y="414591"/>
                </a:lnTo>
                <a:lnTo>
                  <a:pt x="541997" y="411619"/>
                </a:lnTo>
                <a:lnTo>
                  <a:pt x="553974" y="403517"/>
                </a:lnTo>
                <a:lnTo>
                  <a:pt x="562063" y="391541"/>
                </a:lnTo>
                <a:lnTo>
                  <a:pt x="565035" y="376910"/>
                </a:lnTo>
                <a:lnTo>
                  <a:pt x="565035" y="358063"/>
                </a:lnTo>
                <a:lnTo>
                  <a:pt x="565035" y="56540"/>
                </a:lnTo>
                <a:lnTo>
                  <a:pt x="565035" y="37693"/>
                </a:lnTo>
                <a:close/>
              </a:path>
              <a:path w="866775" h="527685">
                <a:moveTo>
                  <a:pt x="866394" y="37693"/>
                </a:moveTo>
                <a:lnTo>
                  <a:pt x="863422" y="23050"/>
                </a:lnTo>
                <a:lnTo>
                  <a:pt x="855332" y="11074"/>
                </a:lnTo>
                <a:lnTo>
                  <a:pt x="843356" y="2971"/>
                </a:lnTo>
                <a:lnTo>
                  <a:pt x="828725" y="0"/>
                </a:lnTo>
                <a:lnTo>
                  <a:pt x="828725" y="37693"/>
                </a:lnTo>
                <a:lnTo>
                  <a:pt x="828725" y="94221"/>
                </a:lnTo>
                <a:lnTo>
                  <a:pt x="828725" y="131914"/>
                </a:lnTo>
                <a:lnTo>
                  <a:pt x="828725" y="188455"/>
                </a:lnTo>
                <a:lnTo>
                  <a:pt x="762812" y="188455"/>
                </a:lnTo>
                <a:lnTo>
                  <a:pt x="762812" y="442861"/>
                </a:lnTo>
                <a:lnTo>
                  <a:pt x="760641" y="454037"/>
                </a:lnTo>
                <a:lnTo>
                  <a:pt x="754684" y="463003"/>
                </a:lnTo>
                <a:lnTo>
                  <a:pt x="745718" y="468960"/>
                </a:lnTo>
                <a:lnTo>
                  <a:pt x="734555" y="471131"/>
                </a:lnTo>
                <a:lnTo>
                  <a:pt x="723392" y="468960"/>
                </a:lnTo>
                <a:lnTo>
                  <a:pt x="714425" y="463003"/>
                </a:lnTo>
                <a:lnTo>
                  <a:pt x="708469" y="454037"/>
                </a:lnTo>
                <a:lnTo>
                  <a:pt x="706297" y="442861"/>
                </a:lnTo>
                <a:lnTo>
                  <a:pt x="708469" y="431685"/>
                </a:lnTo>
                <a:lnTo>
                  <a:pt x="745718" y="416763"/>
                </a:lnTo>
                <a:lnTo>
                  <a:pt x="762812" y="442861"/>
                </a:lnTo>
                <a:lnTo>
                  <a:pt x="762812" y="188455"/>
                </a:lnTo>
                <a:lnTo>
                  <a:pt x="640384" y="188455"/>
                </a:lnTo>
                <a:lnTo>
                  <a:pt x="640384" y="131914"/>
                </a:lnTo>
                <a:lnTo>
                  <a:pt x="828725" y="131914"/>
                </a:lnTo>
                <a:lnTo>
                  <a:pt x="828725" y="94221"/>
                </a:lnTo>
                <a:lnTo>
                  <a:pt x="640384" y="94221"/>
                </a:lnTo>
                <a:lnTo>
                  <a:pt x="640384" y="37693"/>
                </a:lnTo>
                <a:lnTo>
                  <a:pt x="828725" y="37693"/>
                </a:lnTo>
                <a:lnTo>
                  <a:pt x="828725" y="0"/>
                </a:lnTo>
                <a:lnTo>
                  <a:pt x="640384" y="0"/>
                </a:lnTo>
                <a:lnTo>
                  <a:pt x="625754" y="2971"/>
                </a:lnTo>
                <a:lnTo>
                  <a:pt x="613778" y="11074"/>
                </a:lnTo>
                <a:lnTo>
                  <a:pt x="605688" y="23050"/>
                </a:lnTo>
                <a:lnTo>
                  <a:pt x="602716" y="37693"/>
                </a:lnTo>
                <a:lnTo>
                  <a:pt x="602716" y="489978"/>
                </a:lnTo>
                <a:lnTo>
                  <a:pt x="605688" y="504609"/>
                </a:lnTo>
                <a:lnTo>
                  <a:pt x="613778" y="516597"/>
                </a:lnTo>
                <a:lnTo>
                  <a:pt x="625754" y="524687"/>
                </a:lnTo>
                <a:lnTo>
                  <a:pt x="640384" y="527659"/>
                </a:lnTo>
                <a:lnTo>
                  <a:pt x="828725" y="527659"/>
                </a:lnTo>
                <a:lnTo>
                  <a:pt x="843356" y="524687"/>
                </a:lnTo>
                <a:lnTo>
                  <a:pt x="855332" y="516597"/>
                </a:lnTo>
                <a:lnTo>
                  <a:pt x="863422" y="504609"/>
                </a:lnTo>
                <a:lnTo>
                  <a:pt x="866394" y="489978"/>
                </a:lnTo>
                <a:lnTo>
                  <a:pt x="866394" y="471131"/>
                </a:lnTo>
                <a:lnTo>
                  <a:pt x="866394" y="414591"/>
                </a:lnTo>
                <a:lnTo>
                  <a:pt x="866394" y="188455"/>
                </a:lnTo>
                <a:lnTo>
                  <a:pt x="866394" y="131914"/>
                </a:lnTo>
                <a:lnTo>
                  <a:pt x="866394" y="94221"/>
                </a:lnTo>
                <a:lnTo>
                  <a:pt x="866394" y="376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186277" y="4674184"/>
            <a:ext cx="866775" cy="527685"/>
          </a:xfrm>
          <a:custGeom>
            <a:avLst/>
            <a:gdLst/>
            <a:ahLst/>
            <a:cxnLst/>
            <a:rect l="l" t="t" r="r" b="b"/>
            <a:pathLst>
              <a:path w="866775" h="527685">
                <a:moveTo>
                  <a:pt x="565035" y="37693"/>
                </a:moveTo>
                <a:lnTo>
                  <a:pt x="562063" y="23050"/>
                </a:lnTo>
                <a:lnTo>
                  <a:pt x="553974" y="11074"/>
                </a:lnTo>
                <a:lnTo>
                  <a:pt x="541997" y="2971"/>
                </a:lnTo>
                <a:lnTo>
                  <a:pt x="527367" y="0"/>
                </a:lnTo>
                <a:lnTo>
                  <a:pt x="508533" y="0"/>
                </a:lnTo>
                <a:lnTo>
                  <a:pt x="508533" y="56540"/>
                </a:lnTo>
                <a:lnTo>
                  <a:pt x="508533" y="358063"/>
                </a:lnTo>
                <a:lnTo>
                  <a:pt x="56502" y="358063"/>
                </a:lnTo>
                <a:lnTo>
                  <a:pt x="56502" y="56540"/>
                </a:lnTo>
                <a:lnTo>
                  <a:pt x="508533" y="56540"/>
                </a:lnTo>
                <a:lnTo>
                  <a:pt x="508533" y="0"/>
                </a:lnTo>
                <a:lnTo>
                  <a:pt x="37668" y="0"/>
                </a:lnTo>
                <a:lnTo>
                  <a:pt x="23037" y="2971"/>
                </a:lnTo>
                <a:lnTo>
                  <a:pt x="11061" y="11074"/>
                </a:lnTo>
                <a:lnTo>
                  <a:pt x="2971" y="23050"/>
                </a:lnTo>
                <a:lnTo>
                  <a:pt x="0" y="37693"/>
                </a:lnTo>
                <a:lnTo>
                  <a:pt x="0" y="376897"/>
                </a:lnTo>
                <a:lnTo>
                  <a:pt x="2971" y="391541"/>
                </a:lnTo>
                <a:lnTo>
                  <a:pt x="11061" y="403517"/>
                </a:lnTo>
                <a:lnTo>
                  <a:pt x="23037" y="411619"/>
                </a:lnTo>
                <a:lnTo>
                  <a:pt x="37668" y="414591"/>
                </a:lnTo>
                <a:lnTo>
                  <a:pt x="226009" y="414591"/>
                </a:lnTo>
                <a:lnTo>
                  <a:pt x="226009" y="471131"/>
                </a:lnTo>
                <a:lnTo>
                  <a:pt x="141262" y="471131"/>
                </a:lnTo>
                <a:lnTo>
                  <a:pt x="141262" y="527659"/>
                </a:lnTo>
                <a:lnTo>
                  <a:pt x="423786" y="527659"/>
                </a:lnTo>
                <a:lnTo>
                  <a:pt x="423786" y="471131"/>
                </a:lnTo>
                <a:lnTo>
                  <a:pt x="339026" y="471131"/>
                </a:lnTo>
                <a:lnTo>
                  <a:pt x="339026" y="414591"/>
                </a:lnTo>
                <a:lnTo>
                  <a:pt x="527367" y="414591"/>
                </a:lnTo>
                <a:lnTo>
                  <a:pt x="541997" y="411619"/>
                </a:lnTo>
                <a:lnTo>
                  <a:pt x="553974" y="403517"/>
                </a:lnTo>
                <a:lnTo>
                  <a:pt x="562063" y="391541"/>
                </a:lnTo>
                <a:lnTo>
                  <a:pt x="565035" y="376897"/>
                </a:lnTo>
                <a:lnTo>
                  <a:pt x="565035" y="358063"/>
                </a:lnTo>
                <a:lnTo>
                  <a:pt x="565035" y="56540"/>
                </a:lnTo>
                <a:lnTo>
                  <a:pt x="565035" y="37693"/>
                </a:lnTo>
                <a:close/>
              </a:path>
              <a:path w="866775" h="527685">
                <a:moveTo>
                  <a:pt x="866394" y="37693"/>
                </a:moveTo>
                <a:lnTo>
                  <a:pt x="863422" y="23050"/>
                </a:lnTo>
                <a:lnTo>
                  <a:pt x="855332" y="11074"/>
                </a:lnTo>
                <a:lnTo>
                  <a:pt x="843356" y="2971"/>
                </a:lnTo>
                <a:lnTo>
                  <a:pt x="828725" y="0"/>
                </a:lnTo>
                <a:lnTo>
                  <a:pt x="828725" y="37693"/>
                </a:lnTo>
                <a:lnTo>
                  <a:pt x="828725" y="94221"/>
                </a:lnTo>
                <a:lnTo>
                  <a:pt x="828725" y="131914"/>
                </a:lnTo>
                <a:lnTo>
                  <a:pt x="828725" y="188455"/>
                </a:lnTo>
                <a:lnTo>
                  <a:pt x="762812" y="188455"/>
                </a:lnTo>
                <a:lnTo>
                  <a:pt x="762812" y="442861"/>
                </a:lnTo>
                <a:lnTo>
                  <a:pt x="760641" y="454037"/>
                </a:lnTo>
                <a:lnTo>
                  <a:pt x="754684" y="463003"/>
                </a:lnTo>
                <a:lnTo>
                  <a:pt x="745718" y="468960"/>
                </a:lnTo>
                <a:lnTo>
                  <a:pt x="734555" y="471131"/>
                </a:lnTo>
                <a:lnTo>
                  <a:pt x="723392" y="468960"/>
                </a:lnTo>
                <a:lnTo>
                  <a:pt x="714425" y="463003"/>
                </a:lnTo>
                <a:lnTo>
                  <a:pt x="708469" y="454037"/>
                </a:lnTo>
                <a:lnTo>
                  <a:pt x="706297" y="442861"/>
                </a:lnTo>
                <a:lnTo>
                  <a:pt x="708469" y="431685"/>
                </a:lnTo>
                <a:lnTo>
                  <a:pt x="745718" y="416763"/>
                </a:lnTo>
                <a:lnTo>
                  <a:pt x="762812" y="442861"/>
                </a:lnTo>
                <a:lnTo>
                  <a:pt x="762812" y="188455"/>
                </a:lnTo>
                <a:lnTo>
                  <a:pt x="640384" y="188455"/>
                </a:lnTo>
                <a:lnTo>
                  <a:pt x="640384" y="131914"/>
                </a:lnTo>
                <a:lnTo>
                  <a:pt x="828725" y="131914"/>
                </a:lnTo>
                <a:lnTo>
                  <a:pt x="828725" y="94221"/>
                </a:lnTo>
                <a:lnTo>
                  <a:pt x="640384" y="94221"/>
                </a:lnTo>
                <a:lnTo>
                  <a:pt x="640384" y="37693"/>
                </a:lnTo>
                <a:lnTo>
                  <a:pt x="828725" y="37693"/>
                </a:lnTo>
                <a:lnTo>
                  <a:pt x="828725" y="0"/>
                </a:lnTo>
                <a:lnTo>
                  <a:pt x="640384" y="0"/>
                </a:lnTo>
                <a:lnTo>
                  <a:pt x="625754" y="2971"/>
                </a:lnTo>
                <a:lnTo>
                  <a:pt x="613778" y="11074"/>
                </a:lnTo>
                <a:lnTo>
                  <a:pt x="605688" y="23050"/>
                </a:lnTo>
                <a:lnTo>
                  <a:pt x="602716" y="37693"/>
                </a:lnTo>
                <a:lnTo>
                  <a:pt x="602716" y="489978"/>
                </a:lnTo>
                <a:lnTo>
                  <a:pt x="605688" y="504609"/>
                </a:lnTo>
                <a:lnTo>
                  <a:pt x="613778" y="516597"/>
                </a:lnTo>
                <a:lnTo>
                  <a:pt x="625754" y="524687"/>
                </a:lnTo>
                <a:lnTo>
                  <a:pt x="640384" y="527659"/>
                </a:lnTo>
                <a:lnTo>
                  <a:pt x="828725" y="527659"/>
                </a:lnTo>
                <a:lnTo>
                  <a:pt x="843356" y="524687"/>
                </a:lnTo>
                <a:lnTo>
                  <a:pt x="855332" y="516597"/>
                </a:lnTo>
                <a:lnTo>
                  <a:pt x="863422" y="504609"/>
                </a:lnTo>
                <a:lnTo>
                  <a:pt x="866394" y="489978"/>
                </a:lnTo>
                <a:lnTo>
                  <a:pt x="866394" y="471131"/>
                </a:lnTo>
                <a:lnTo>
                  <a:pt x="866394" y="414591"/>
                </a:lnTo>
                <a:lnTo>
                  <a:pt x="866394" y="188455"/>
                </a:lnTo>
                <a:lnTo>
                  <a:pt x="866394" y="131914"/>
                </a:lnTo>
                <a:lnTo>
                  <a:pt x="866394" y="94221"/>
                </a:lnTo>
                <a:lnTo>
                  <a:pt x="866394" y="376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979487" y="3365956"/>
            <a:ext cx="811530" cy="982980"/>
          </a:xfrm>
          <a:custGeom>
            <a:avLst/>
            <a:gdLst/>
            <a:ahLst/>
            <a:cxnLst/>
            <a:rect l="l" t="t" r="r" b="b"/>
            <a:pathLst>
              <a:path w="811530" h="982979">
                <a:moveTo>
                  <a:pt x="758215" y="938555"/>
                </a:moveTo>
                <a:lnTo>
                  <a:pt x="666597" y="938555"/>
                </a:lnTo>
                <a:lnTo>
                  <a:pt x="666597" y="865746"/>
                </a:lnTo>
                <a:lnTo>
                  <a:pt x="666597" y="858799"/>
                </a:lnTo>
                <a:lnTo>
                  <a:pt x="666597" y="729348"/>
                </a:lnTo>
                <a:lnTo>
                  <a:pt x="666597" y="725881"/>
                </a:lnTo>
                <a:lnTo>
                  <a:pt x="666597" y="650748"/>
                </a:lnTo>
                <a:lnTo>
                  <a:pt x="664260" y="639406"/>
                </a:lnTo>
                <a:lnTo>
                  <a:pt x="657860" y="630237"/>
                </a:lnTo>
                <a:lnTo>
                  <a:pt x="648296" y="624090"/>
                </a:lnTo>
                <a:lnTo>
                  <a:pt x="636460" y="621855"/>
                </a:lnTo>
                <a:lnTo>
                  <a:pt x="553288" y="621855"/>
                </a:lnTo>
                <a:lnTo>
                  <a:pt x="553288" y="794080"/>
                </a:lnTo>
                <a:lnTo>
                  <a:pt x="485787" y="858799"/>
                </a:lnTo>
                <a:lnTo>
                  <a:pt x="468909" y="842619"/>
                </a:lnTo>
                <a:lnTo>
                  <a:pt x="519531" y="794080"/>
                </a:lnTo>
                <a:lnTo>
                  <a:pt x="468909" y="745528"/>
                </a:lnTo>
                <a:lnTo>
                  <a:pt x="485787" y="729348"/>
                </a:lnTo>
                <a:lnTo>
                  <a:pt x="553288" y="794080"/>
                </a:lnTo>
                <a:lnTo>
                  <a:pt x="553288" y="621855"/>
                </a:lnTo>
                <a:lnTo>
                  <a:pt x="446011" y="621855"/>
                </a:lnTo>
                <a:lnTo>
                  <a:pt x="446011" y="735126"/>
                </a:lnTo>
                <a:lnTo>
                  <a:pt x="389343" y="865746"/>
                </a:lnTo>
                <a:lnTo>
                  <a:pt x="370370" y="857643"/>
                </a:lnTo>
                <a:lnTo>
                  <a:pt x="367652" y="856488"/>
                </a:lnTo>
                <a:lnTo>
                  <a:pt x="423303" y="728192"/>
                </a:lnTo>
                <a:lnTo>
                  <a:pt x="424307" y="725881"/>
                </a:lnTo>
                <a:lnTo>
                  <a:pt x="446011" y="735126"/>
                </a:lnTo>
                <a:lnTo>
                  <a:pt x="446011" y="621855"/>
                </a:lnTo>
                <a:lnTo>
                  <a:pt x="343547" y="621855"/>
                </a:lnTo>
                <a:lnTo>
                  <a:pt x="343547" y="744372"/>
                </a:lnTo>
                <a:lnTo>
                  <a:pt x="292912" y="792924"/>
                </a:lnTo>
                <a:lnTo>
                  <a:pt x="343547" y="841463"/>
                </a:lnTo>
                <a:lnTo>
                  <a:pt x="326669" y="857643"/>
                </a:lnTo>
                <a:lnTo>
                  <a:pt x="259168" y="792924"/>
                </a:lnTo>
                <a:lnTo>
                  <a:pt x="326669" y="728192"/>
                </a:lnTo>
                <a:lnTo>
                  <a:pt x="343547" y="744372"/>
                </a:lnTo>
                <a:lnTo>
                  <a:pt x="343547" y="621855"/>
                </a:lnTo>
                <a:lnTo>
                  <a:pt x="177190" y="621855"/>
                </a:lnTo>
                <a:lnTo>
                  <a:pt x="165366" y="624090"/>
                </a:lnTo>
                <a:lnTo>
                  <a:pt x="155803" y="630237"/>
                </a:lnTo>
                <a:lnTo>
                  <a:pt x="149390" y="639406"/>
                </a:lnTo>
                <a:lnTo>
                  <a:pt x="147053" y="650748"/>
                </a:lnTo>
                <a:lnTo>
                  <a:pt x="147053" y="938555"/>
                </a:lnTo>
                <a:lnTo>
                  <a:pt x="55448" y="938555"/>
                </a:lnTo>
                <a:lnTo>
                  <a:pt x="55448" y="953592"/>
                </a:lnTo>
                <a:lnTo>
                  <a:pt x="57785" y="964933"/>
                </a:lnTo>
                <a:lnTo>
                  <a:pt x="64185" y="974102"/>
                </a:lnTo>
                <a:lnTo>
                  <a:pt x="73748" y="980249"/>
                </a:lnTo>
                <a:lnTo>
                  <a:pt x="85585" y="982484"/>
                </a:lnTo>
                <a:lnTo>
                  <a:pt x="728078" y="982484"/>
                </a:lnTo>
                <a:lnTo>
                  <a:pt x="739902" y="980249"/>
                </a:lnTo>
                <a:lnTo>
                  <a:pt x="749477" y="974102"/>
                </a:lnTo>
                <a:lnTo>
                  <a:pt x="755878" y="964933"/>
                </a:lnTo>
                <a:lnTo>
                  <a:pt x="758215" y="953592"/>
                </a:lnTo>
                <a:lnTo>
                  <a:pt x="758215" y="938555"/>
                </a:lnTo>
                <a:close/>
              </a:path>
              <a:path w="811530" h="982979">
                <a:moveTo>
                  <a:pt x="811250" y="820661"/>
                </a:moveTo>
                <a:lnTo>
                  <a:pt x="791959" y="646125"/>
                </a:lnTo>
                <a:lnTo>
                  <a:pt x="779602" y="598589"/>
                </a:lnTo>
                <a:lnTo>
                  <a:pt x="747356" y="560590"/>
                </a:lnTo>
                <a:lnTo>
                  <a:pt x="712419" y="536155"/>
                </a:lnTo>
                <a:lnTo>
                  <a:pt x="684809" y="521296"/>
                </a:lnTo>
                <a:lnTo>
                  <a:pt x="674890" y="515950"/>
                </a:lnTo>
                <a:lnTo>
                  <a:pt x="657694" y="508571"/>
                </a:lnTo>
                <a:lnTo>
                  <a:pt x="635317" y="498983"/>
                </a:lnTo>
                <a:lnTo>
                  <a:pt x="594271" y="484301"/>
                </a:lnTo>
                <a:lnTo>
                  <a:pt x="535203" y="461187"/>
                </a:lnTo>
                <a:lnTo>
                  <a:pt x="530390" y="458876"/>
                </a:lnTo>
                <a:lnTo>
                  <a:pt x="527977" y="455409"/>
                </a:lnTo>
                <a:lnTo>
                  <a:pt x="527977" y="448475"/>
                </a:lnTo>
                <a:lnTo>
                  <a:pt x="527977" y="423037"/>
                </a:lnTo>
                <a:lnTo>
                  <a:pt x="558596" y="393801"/>
                </a:lnTo>
                <a:lnTo>
                  <a:pt x="581317" y="359041"/>
                </a:lnTo>
                <a:lnTo>
                  <a:pt x="595439" y="320154"/>
                </a:lnTo>
                <a:lnTo>
                  <a:pt x="600303" y="278561"/>
                </a:lnTo>
                <a:lnTo>
                  <a:pt x="600303" y="236943"/>
                </a:lnTo>
                <a:lnTo>
                  <a:pt x="607529" y="241566"/>
                </a:lnTo>
                <a:lnTo>
                  <a:pt x="624408" y="243878"/>
                </a:lnTo>
                <a:lnTo>
                  <a:pt x="621944" y="236943"/>
                </a:lnTo>
                <a:lnTo>
                  <a:pt x="603910" y="186093"/>
                </a:lnTo>
                <a:lnTo>
                  <a:pt x="599097" y="169913"/>
                </a:lnTo>
                <a:lnTo>
                  <a:pt x="597890" y="161810"/>
                </a:lnTo>
                <a:lnTo>
                  <a:pt x="594639" y="150253"/>
                </a:lnTo>
                <a:lnTo>
                  <a:pt x="585025" y="116052"/>
                </a:lnTo>
                <a:lnTo>
                  <a:pt x="561873" y="77431"/>
                </a:lnTo>
                <a:lnTo>
                  <a:pt x="550875" y="66535"/>
                </a:lnTo>
                <a:lnTo>
                  <a:pt x="550875" y="196494"/>
                </a:lnTo>
                <a:lnTo>
                  <a:pt x="550875" y="277406"/>
                </a:lnTo>
                <a:lnTo>
                  <a:pt x="543471" y="321119"/>
                </a:lnTo>
                <a:lnTo>
                  <a:pt x="522871" y="359181"/>
                </a:lnTo>
                <a:lnTo>
                  <a:pt x="501459" y="379730"/>
                </a:lnTo>
                <a:lnTo>
                  <a:pt x="501459" y="495858"/>
                </a:lnTo>
                <a:lnTo>
                  <a:pt x="477735" y="501916"/>
                </a:lnTo>
                <a:lnTo>
                  <a:pt x="453694" y="506120"/>
                </a:lnTo>
                <a:lnTo>
                  <a:pt x="429412" y="508381"/>
                </a:lnTo>
                <a:lnTo>
                  <a:pt x="405015" y="508571"/>
                </a:lnTo>
                <a:lnTo>
                  <a:pt x="381330" y="507733"/>
                </a:lnTo>
                <a:lnTo>
                  <a:pt x="357403" y="505256"/>
                </a:lnTo>
                <a:lnTo>
                  <a:pt x="333489" y="501256"/>
                </a:lnTo>
                <a:lnTo>
                  <a:pt x="309791" y="495858"/>
                </a:lnTo>
                <a:lnTo>
                  <a:pt x="319659" y="486854"/>
                </a:lnTo>
                <a:lnTo>
                  <a:pt x="327266" y="475780"/>
                </a:lnTo>
                <a:lnTo>
                  <a:pt x="332168" y="463194"/>
                </a:lnTo>
                <a:lnTo>
                  <a:pt x="333895" y="449630"/>
                </a:lnTo>
                <a:lnTo>
                  <a:pt x="333895" y="448475"/>
                </a:lnTo>
                <a:lnTo>
                  <a:pt x="369379" y="458876"/>
                </a:lnTo>
                <a:lnTo>
                  <a:pt x="406222" y="462343"/>
                </a:lnTo>
                <a:lnTo>
                  <a:pt x="443064" y="458876"/>
                </a:lnTo>
                <a:lnTo>
                  <a:pt x="478548" y="448475"/>
                </a:lnTo>
                <a:lnTo>
                  <a:pt x="478548" y="449630"/>
                </a:lnTo>
                <a:lnTo>
                  <a:pt x="480098" y="462546"/>
                </a:lnTo>
                <a:lnTo>
                  <a:pt x="484581" y="474916"/>
                </a:lnTo>
                <a:lnTo>
                  <a:pt x="491769" y="486194"/>
                </a:lnTo>
                <a:lnTo>
                  <a:pt x="501459" y="495858"/>
                </a:lnTo>
                <a:lnTo>
                  <a:pt x="501459" y="379730"/>
                </a:lnTo>
                <a:lnTo>
                  <a:pt x="491515" y="389255"/>
                </a:lnTo>
                <a:lnTo>
                  <a:pt x="451815" y="409003"/>
                </a:lnTo>
                <a:lnTo>
                  <a:pt x="406222" y="416102"/>
                </a:lnTo>
                <a:lnTo>
                  <a:pt x="362597" y="409752"/>
                </a:lnTo>
                <a:lnTo>
                  <a:pt x="324243" y="391922"/>
                </a:lnTo>
                <a:lnTo>
                  <a:pt x="293230" y="364426"/>
                </a:lnTo>
                <a:lnTo>
                  <a:pt x="271640" y="329107"/>
                </a:lnTo>
                <a:lnTo>
                  <a:pt x="264960" y="301675"/>
                </a:lnTo>
                <a:lnTo>
                  <a:pt x="261569" y="287807"/>
                </a:lnTo>
                <a:lnTo>
                  <a:pt x="305104" y="272884"/>
                </a:lnTo>
                <a:lnTo>
                  <a:pt x="351853" y="254711"/>
                </a:lnTo>
                <a:lnTo>
                  <a:pt x="398995" y="233337"/>
                </a:lnTo>
                <a:lnTo>
                  <a:pt x="443725" y="208775"/>
                </a:lnTo>
                <a:lnTo>
                  <a:pt x="483235" y="181076"/>
                </a:lnTo>
                <a:lnTo>
                  <a:pt x="514718" y="150253"/>
                </a:lnTo>
                <a:lnTo>
                  <a:pt x="523074" y="162191"/>
                </a:lnTo>
                <a:lnTo>
                  <a:pt x="531888" y="173812"/>
                </a:lnTo>
                <a:lnTo>
                  <a:pt x="541159" y="185204"/>
                </a:lnTo>
                <a:lnTo>
                  <a:pt x="550875" y="196494"/>
                </a:lnTo>
                <a:lnTo>
                  <a:pt x="550875" y="66535"/>
                </a:lnTo>
                <a:lnTo>
                  <a:pt x="529920" y="45758"/>
                </a:lnTo>
                <a:lnTo>
                  <a:pt x="505167" y="30048"/>
                </a:lnTo>
                <a:lnTo>
                  <a:pt x="490601" y="20802"/>
                </a:lnTo>
                <a:lnTo>
                  <a:pt x="485787" y="18491"/>
                </a:lnTo>
                <a:lnTo>
                  <a:pt x="479755" y="18491"/>
                </a:lnTo>
                <a:lnTo>
                  <a:pt x="474814" y="22047"/>
                </a:lnTo>
                <a:lnTo>
                  <a:pt x="464083" y="30048"/>
                </a:lnTo>
                <a:lnTo>
                  <a:pt x="452031" y="13868"/>
                </a:lnTo>
                <a:lnTo>
                  <a:pt x="413156" y="215"/>
                </a:lnTo>
                <a:lnTo>
                  <a:pt x="405015" y="0"/>
                </a:lnTo>
                <a:lnTo>
                  <a:pt x="358927" y="5740"/>
                </a:lnTo>
                <a:lnTo>
                  <a:pt x="316750" y="22047"/>
                </a:lnTo>
                <a:lnTo>
                  <a:pt x="279806" y="47523"/>
                </a:lnTo>
                <a:lnTo>
                  <a:pt x="249389" y="80822"/>
                </a:lnTo>
                <a:lnTo>
                  <a:pt x="226796" y="120535"/>
                </a:lnTo>
                <a:lnTo>
                  <a:pt x="213360" y="165277"/>
                </a:lnTo>
                <a:lnTo>
                  <a:pt x="213360" y="193027"/>
                </a:lnTo>
                <a:lnTo>
                  <a:pt x="212432" y="211874"/>
                </a:lnTo>
                <a:lnTo>
                  <a:pt x="209588" y="230301"/>
                </a:lnTo>
                <a:lnTo>
                  <a:pt x="204711" y="248285"/>
                </a:lnTo>
                <a:lnTo>
                  <a:pt x="197688" y="265849"/>
                </a:lnTo>
                <a:lnTo>
                  <a:pt x="177190" y="312077"/>
                </a:lnTo>
                <a:lnTo>
                  <a:pt x="185928" y="309968"/>
                </a:lnTo>
                <a:lnTo>
                  <a:pt x="192862" y="308178"/>
                </a:lnTo>
                <a:lnTo>
                  <a:pt x="215773" y="301675"/>
                </a:lnTo>
                <a:lnTo>
                  <a:pt x="223812" y="336207"/>
                </a:lnTo>
                <a:lnTo>
                  <a:pt x="238518" y="368134"/>
                </a:lnTo>
                <a:lnTo>
                  <a:pt x="259334" y="396608"/>
                </a:lnTo>
                <a:lnTo>
                  <a:pt x="285686" y="420725"/>
                </a:lnTo>
                <a:lnTo>
                  <a:pt x="285686" y="454253"/>
                </a:lnTo>
                <a:lnTo>
                  <a:pt x="283273" y="458876"/>
                </a:lnTo>
                <a:lnTo>
                  <a:pt x="278447" y="460032"/>
                </a:lnTo>
                <a:lnTo>
                  <a:pt x="219379" y="483146"/>
                </a:lnTo>
                <a:lnTo>
                  <a:pt x="178346" y="497827"/>
                </a:lnTo>
                <a:lnTo>
                  <a:pt x="138772" y="514794"/>
                </a:lnTo>
                <a:lnTo>
                  <a:pt x="101231" y="535000"/>
                </a:lnTo>
                <a:lnTo>
                  <a:pt x="66294" y="559435"/>
                </a:lnTo>
                <a:lnTo>
                  <a:pt x="33451" y="597433"/>
                </a:lnTo>
                <a:lnTo>
                  <a:pt x="20485" y="644969"/>
                </a:lnTo>
                <a:lnTo>
                  <a:pt x="0" y="820661"/>
                </a:lnTo>
                <a:lnTo>
                  <a:pt x="127" y="839546"/>
                </a:lnTo>
                <a:lnTo>
                  <a:pt x="30137" y="885393"/>
                </a:lnTo>
                <a:lnTo>
                  <a:pt x="73863" y="907986"/>
                </a:lnTo>
                <a:lnTo>
                  <a:pt x="89204" y="914285"/>
                </a:lnTo>
                <a:lnTo>
                  <a:pt x="122948" y="914285"/>
                </a:lnTo>
                <a:lnTo>
                  <a:pt x="122948" y="878459"/>
                </a:lnTo>
                <a:lnTo>
                  <a:pt x="105994" y="872134"/>
                </a:lnTo>
                <a:lnTo>
                  <a:pt x="89496" y="865162"/>
                </a:lnTo>
                <a:lnTo>
                  <a:pt x="73456" y="857326"/>
                </a:lnTo>
                <a:lnTo>
                  <a:pt x="57861" y="848398"/>
                </a:lnTo>
                <a:lnTo>
                  <a:pt x="50622" y="843775"/>
                </a:lnTo>
                <a:lnTo>
                  <a:pt x="47002" y="835685"/>
                </a:lnTo>
                <a:lnTo>
                  <a:pt x="48209" y="827595"/>
                </a:lnTo>
                <a:lnTo>
                  <a:pt x="68707" y="649592"/>
                </a:lnTo>
                <a:lnTo>
                  <a:pt x="68707" y="647280"/>
                </a:lnTo>
                <a:lnTo>
                  <a:pt x="70662" y="632167"/>
                </a:lnTo>
                <a:lnTo>
                  <a:pt x="96431" y="595261"/>
                </a:lnTo>
                <a:lnTo>
                  <a:pt x="161671" y="555967"/>
                </a:lnTo>
                <a:lnTo>
                  <a:pt x="197624" y="540651"/>
                </a:lnTo>
                <a:lnTo>
                  <a:pt x="235051" y="527075"/>
                </a:lnTo>
                <a:lnTo>
                  <a:pt x="254342" y="521296"/>
                </a:lnTo>
                <a:lnTo>
                  <a:pt x="284175" y="535305"/>
                </a:lnTo>
                <a:lnTo>
                  <a:pt x="320344" y="545858"/>
                </a:lnTo>
                <a:lnTo>
                  <a:pt x="361480" y="552500"/>
                </a:lnTo>
                <a:lnTo>
                  <a:pt x="406222" y="554812"/>
                </a:lnTo>
                <a:lnTo>
                  <a:pt x="451002" y="552500"/>
                </a:lnTo>
                <a:lnTo>
                  <a:pt x="492264" y="545858"/>
                </a:lnTo>
                <a:lnTo>
                  <a:pt x="528789" y="535305"/>
                </a:lnTo>
                <a:lnTo>
                  <a:pt x="559320" y="521296"/>
                </a:lnTo>
                <a:lnTo>
                  <a:pt x="577392" y="527075"/>
                </a:lnTo>
                <a:lnTo>
                  <a:pt x="614819" y="540651"/>
                </a:lnTo>
                <a:lnTo>
                  <a:pt x="650773" y="555967"/>
                </a:lnTo>
                <a:lnTo>
                  <a:pt x="684695" y="573887"/>
                </a:lnTo>
                <a:lnTo>
                  <a:pt x="727278" y="605828"/>
                </a:lnTo>
                <a:lnTo>
                  <a:pt x="742543" y="647280"/>
                </a:lnTo>
                <a:lnTo>
                  <a:pt x="764235" y="826439"/>
                </a:lnTo>
                <a:lnTo>
                  <a:pt x="739000" y="856335"/>
                </a:lnTo>
                <a:lnTo>
                  <a:pt x="689495" y="877303"/>
                </a:lnTo>
                <a:lnTo>
                  <a:pt x="689495" y="914285"/>
                </a:lnTo>
                <a:lnTo>
                  <a:pt x="722045" y="914285"/>
                </a:lnTo>
                <a:lnTo>
                  <a:pt x="737374" y="907986"/>
                </a:lnTo>
                <a:lnTo>
                  <a:pt x="781113" y="885393"/>
                </a:lnTo>
                <a:lnTo>
                  <a:pt x="811123" y="839558"/>
                </a:lnTo>
                <a:lnTo>
                  <a:pt x="811250" y="8206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144271" y="4651721"/>
            <a:ext cx="49530" cy="248285"/>
          </a:xfrm>
          <a:custGeom>
            <a:avLst/>
            <a:gdLst/>
            <a:ahLst/>
            <a:cxnLst/>
            <a:rect l="l" t="t" r="r" b="b"/>
            <a:pathLst>
              <a:path w="49529" h="248285">
                <a:moveTo>
                  <a:pt x="49441" y="0"/>
                </a:moveTo>
                <a:lnTo>
                  <a:pt x="0" y="0"/>
                </a:lnTo>
                <a:lnTo>
                  <a:pt x="0" y="247814"/>
                </a:lnTo>
                <a:lnTo>
                  <a:pt x="49441" y="247814"/>
                </a:lnTo>
                <a:lnTo>
                  <a:pt x="494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3154" y="4651721"/>
            <a:ext cx="181285" cy="247815"/>
          </a:xfrm>
          <a:prstGeom prst="rect">
            <a:avLst/>
          </a:prstGeom>
        </p:spPr>
      </p:pic>
      <p:sp>
        <p:nvSpPr>
          <p:cNvPr id="15" name="object 15" descr=""/>
          <p:cNvSpPr/>
          <p:nvPr/>
        </p:nvSpPr>
        <p:spPr>
          <a:xfrm>
            <a:off x="4473880" y="4651721"/>
            <a:ext cx="49530" cy="248285"/>
          </a:xfrm>
          <a:custGeom>
            <a:avLst/>
            <a:gdLst/>
            <a:ahLst/>
            <a:cxnLst/>
            <a:rect l="l" t="t" r="r" b="b"/>
            <a:pathLst>
              <a:path w="49529" h="248285">
                <a:moveTo>
                  <a:pt x="49441" y="0"/>
                </a:moveTo>
                <a:lnTo>
                  <a:pt x="0" y="0"/>
                </a:lnTo>
                <a:lnTo>
                  <a:pt x="0" y="247814"/>
                </a:lnTo>
                <a:lnTo>
                  <a:pt x="49441" y="247814"/>
                </a:lnTo>
                <a:lnTo>
                  <a:pt x="494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763" y="4651721"/>
            <a:ext cx="181305" cy="247815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4144271" y="4982140"/>
            <a:ext cx="49530" cy="248285"/>
          </a:xfrm>
          <a:custGeom>
            <a:avLst/>
            <a:gdLst/>
            <a:ahLst/>
            <a:cxnLst/>
            <a:rect l="l" t="t" r="r" b="b"/>
            <a:pathLst>
              <a:path w="49529" h="248285">
                <a:moveTo>
                  <a:pt x="49441" y="0"/>
                </a:moveTo>
                <a:lnTo>
                  <a:pt x="0" y="0"/>
                </a:lnTo>
                <a:lnTo>
                  <a:pt x="0" y="247814"/>
                </a:lnTo>
                <a:lnTo>
                  <a:pt x="49441" y="247814"/>
                </a:lnTo>
                <a:lnTo>
                  <a:pt x="494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3154" y="4982141"/>
            <a:ext cx="181285" cy="247815"/>
          </a:xfrm>
          <a:prstGeom prst="rect">
            <a:avLst/>
          </a:prstGeom>
        </p:spPr>
      </p:pic>
      <p:sp>
        <p:nvSpPr>
          <p:cNvPr id="19" name="object 19" descr=""/>
          <p:cNvSpPr/>
          <p:nvPr/>
        </p:nvSpPr>
        <p:spPr>
          <a:xfrm>
            <a:off x="4473880" y="4982141"/>
            <a:ext cx="49530" cy="248285"/>
          </a:xfrm>
          <a:custGeom>
            <a:avLst/>
            <a:gdLst/>
            <a:ahLst/>
            <a:cxnLst/>
            <a:rect l="l" t="t" r="r" b="b"/>
            <a:pathLst>
              <a:path w="49529" h="248285">
                <a:moveTo>
                  <a:pt x="49441" y="0"/>
                </a:moveTo>
                <a:lnTo>
                  <a:pt x="0" y="0"/>
                </a:lnTo>
                <a:lnTo>
                  <a:pt x="0" y="247814"/>
                </a:lnTo>
                <a:lnTo>
                  <a:pt x="49441" y="247814"/>
                </a:lnTo>
                <a:lnTo>
                  <a:pt x="494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763" y="4982141"/>
            <a:ext cx="181305" cy="247815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2008771" y="5743473"/>
            <a:ext cx="829310" cy="622935"/>
          </a:xfrm>
          <a:custGeom>
            <a:avLst/>
            <a:gdLst/>
            <a:ahLst/>
            <a:cxnLst/>
            <a:rect l="l" t="t" r="r" b="b"/>
            <a:pathLst>
              <a:path w="829310" h="622935">
                <a:moveTo>
                  <a:pt x="828713" y="462394"/>
                </a:moveTo>
                <a:lnTo>
                  <a:pt x="688594" y="310502"/>
                </a:lnTo>
                <a:lnTo>
                  <a:pt x="669340" y="302920"/>
                </a:lnTo>
                <a:lnTo>
                  <a:pt x="659155" y="304812"/>
                </a:lnTo>
                <a:lnTo>
                  <a:pt x="650087" y="310502"/>
                </a:lnTo>
                <a:lnTo>
                  <a:pt x="643547" y="319633"/>
                </a:lnTo>
                <a:lnTo>
                  <a:pt x="641108" y="330187"/>
                </a:lnTo>
                <a:lnTo>
                  <a:pt x="642797" y="340893"/>
                </a:lnTo>
                <a:lnTo>
                  <a:pt x="648665" y="350456"/>
                </a:lnTo>
                <a:lnTo>
                  <a:pt x="732294" y="434124"/>
                </a:lnTo>
                <a:lnTo>
                  <a:pt x="28244" y="434124"/>
                </a:lnTo>
                <a:lnTo>
                  <a:pt x="17259" y="436346"/>
                </a:lnTo>
                <a:lnTo>
                  <a:pt x="8267" y="442404"/>
                </a:lnTo>
                <a:lnTo>
                  <a:pt x="2222" y="451396"/>
                </a:lnTo>
                <a:lnTo>
                  <a:pt x="0" y="462394"/>
                </a:lnTo>
                <a:lnTo>
                  <a:pt x="2222" y="473405"/>
                </a:lnTo>
                <a:lnTo>
                  <a:pt x="8267" y="482384"/>
                </a:lnTo>
                <a:lnTo>
                  <a:pt x="17259" y="488442"/>
                </a:lnTo>
                <a:lnTo>
                  <a:pt x="28244" y="490664"/>
                </a:lnTo>
                <a:lnTo>
                  <a:pt x="732294" y="490664"/>
                </a:lnTo>
                <a:lnTo>
                  <a:pt x="648665" y="574332"/>
                </a:lnTo>
                <a:lnTo>
                  <a:pt x="642467" y="583679"/>
                </a:lnTo>
                <a:lnTo>
                  <a:pt x="640410" y="594309"/>
                </a:lnTo>
                <a:lnTo>
                  <a:pt x="642467" y="604939"/>
                </a:lnTo>
                <a:lnTo>
                  <a:pt x="648665" y="614286"/>
                </a:lnTo>
                <a:lnTo>
                  <a:pt x="658012" y="620496"/>
                </a:lnTo>
                <a:lnTo>
                  <a:pt x="668629" y="622554"/>
                </a:lnTo>
                <a:lnTo>
                  <a:pt x="679259" y="620496"/>
                </a:lnTo>
                <a:lnTo>
                  <a:pt x="688594" y="614286"/>
                </a:lnTo>
                <a:lnTo>
                  <a:pt x="820407" y="482371"/>
                </a:lnTo>
                <a:lnTo>
                  <a:pt x="826630" y="473024"/>
                </a:lnTo>
                <a:lnTo>
                  <a:pt x="828713" y="462394"/>
                </a:lnTo>
                <a:close/>
              </a:path>
              <a:path w="829310" h="622935">
                <a:moveTo>
                  <a:pt x="828725" y="160870"/>
                </a:moveTo>
                <a:lnTo>
                  <a:pt x="826516" y="149872"/>
                </a:lnTo>
                <a:lnTo>
                  <a:pt x="820458" y="140881"/>
                </a:lnTo>
                <a:lnTo>
                  <a:pt x="811479" y="134823"/>
                </a:lnTo>
                <a:lnTo>
                  <a:pt x="800481" y="132600"/>
                </a:lnTo>
                <a:lnTo>
                  <a:pt x="96431" y="132600"/>
                </a:lnTo>
                <a:lnTo>
                  <a:pt x="180060" y="48933"/>
                </a:lnTo>
                <a:lnTo>
                  <a:pt x="186588" y="39814"/>
                </a:lnTo>
                <a:lnTo>
                  <a:pt x="189039" y="29248"/>
                </a:lnTo>
                <a:lnTo>
                  <a:pt x="187337" y="18554"/>
                </a:lnTo>
                <a:lnTo>
                  <a:pt x="181470" y="8978"/>
                </a:lnTo>
                <a:lnTo>
                  <a:pt x="172351" y="2451"/>
                </a:lnTo>
                <a:lnTo>
                  <a:pt x="161798" y="0"/>
                </a:lnTo>
                <a:lnTo>
                  <a:pt x="151091" y="1689"/>
                </a:lnTo>
                <a:lnTo>
                  <a:pt x="140589" y="8496"/>
                </a:lnTo>
                <a:lnTo>
                  <a:pt x="8280" y="140893"/>
                </a:lnTo>
                <a:lnTo>
                  <a:pt x="2082" y="150241"/>
                </a:lnTo>
                <a:lnTo>
                  <a:pt x="25" y="160870"/>
                </a:lnTo>
                <a:lnTo>
                  <a:pt x="2082" y="171500"/>
                </a:lnTo>
                <a:lnTo>
                  <a:pt x="8280" y="180848"/>
                </a:lnTo>
                <a:lnTo>
                  <a:pt x="140131" y="312762"/>
                </a:lnTo>
                <a:lnTo>
                  <a:pt x="149466" y="318973"/>
                </a:lnTo>
                <a:lnTo>
                  <a:pt x="160096" y="321030"/>
                </a:lnTo>
                <a:lnTo>
                  <a:pt x="170713" y="318973"/>
                </a:lnTo>
                <a:lnTo>
                  <a:pt x="186258" y="282168"/>
                </a:lnTo>
                <a:lnTo>
                  <a:pt x="96431" y="189141"/>
                </a:lnTo>
                <a:lnTo>
                  <a:pt x="800481" y="189141"/>
                </a:lnTo>
                <a:lnTo>
                  <a:pt x="811479" y="186918"/>
                </a:lnTo>
                <a:lnTo>
                  <a:pt x="820458" y="180860"/>
                </a:lnTo>
                <a:lnTo>
                  <a:pt x="826516" y="171881"/>
                </a:lnTo>
                <a:lnTo>
                  <a:pt x="828725" y="1608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976439" y="5601665"/>
            <a:ext cx="811530" cy="982980"/>
          </a:xfrm>
          <a:custGeom>
            <a:avLst/>
            <a:gdLst/>
            <a:ahLst/>
            <a:cxnLst/>
            <a:rect l="l" t="t" r="r" b="b"/>
            <a:pathLst>
              <a:path w="811530" h="982979">
                <a:moveTo>
                  <a:pt x="758215" y="938555"/>
                </a:moveTo>
                <a:lnTo>
                  <a:pt x="666597" y="938555"/>
                </a:lnTo>
                <a:lnTo>
                  <a:pt x="666597" y="865746"/>
                </a:lnTo>
                <a:lnTo>
                  <a:pt x="666597" y="858799"/>
                </a:lnTo>
                <a:lnTo>
                  <a:pt x="666597" y="729348"/>
                </a:lnTo>
                <a:lnTo>
                  <a:pt x="666597" y="725881"/>
                </a:lnTo>
                <a:lnTo>
                  <a:pt x="666597" y="650748"/>
                </a:lnTo>
                <a:lnTo>
                  <a:pt x="664260" y="639406"/>
                </a:lnTo>
                <a:lnTo>
                  <a:pt x="657860" y="630237"/>
                </a:lnTo>
                <a:lnTo>
                  <a:pt x="648296" y="624090"/>
                </a:lnTo>
                <a:lnTo>
                  <a:pt x="636460" y="621855"/>
                </a:lnTo>
                <a:lnTo>
                  <a:pt x="553288" y="621855"/>
                </a:lnTo>
                <a:lnTo>
                  <a:pt x="553288" y="794080"/>
                </a:lnTo>
                <a:lnTo>
                  <a:pt x="485787" y="858799"/>
                </a:lnTo>
                <a:lnTo>
                  <a:pt x="468909" y="842619"/>
                </a:lnTo>
                <a:lnTo>
                  <a:pt x="519531" y="794080"/>
                </a:lnTo>
                <a:lnTo>
                  <a:pt x="468909" y="745528"/>
                </a:lnTo>
                <a:lnTo>
                  <a:pt x="485787" y="729348"/>
                </a:lnTo>
                <a:lnTo>
                  <a:pt x="553288" y="794080"/>
                </a:lnTo>
                <a:lnTo>
                  <a:pt x="553288" y="621855"/>
                </a:lnTo>
                <a:lnTo>
                  <a:pt x="446011" y="621855"/>
                </a:lnTo>
                <a:lnTo>
                  <a:pt x="446011" y="735126"/>
                </a:lnTo>
                <a:lnTo>
                  <a:pt x="389343" y="865746"/>
                </a:lnTo>
                <a:lnTo>
                  <a:pt x="370370" y="857643"/>
                </a:lnTo>
                <a:lnTo>
                  <a:pt x="367652" y="856488"/>
                </a:lnTo>
                <a:lnTo>
                  <a:pt x="423303" y="728192"/>
                </a:lnTo>
                <a:lnTo>
                  <a:pt x="424307" y="725881"/>
                </a:lnTo>
                <a:lnTo>
                  <a:pt x="446011" y="735126"/>
                </a:lnTo>
                <a:lnTo>
                  <a:pt x="446011" y="621855"/>
                </a:lnTo>
                <a:lnTo>
                  <a:pt x="343547" y="621855"/>
                </a:lnTo>
                <a:lnTo>
                  <a:pt x="343547" y="744372"/>
                </a:lnTo>
                <a:lnTo>
                  <a:pt x="292912" y="792924"/>
                </a:lnTo>
                <a:lnTo>
                  <a:pt x="343547" y="841463"/>
                </a:lnTo>
                <a:lnTo>
                  <a:pt x="326669" y="857643"/>
                </a:lnTo>
                <a:lnTo>
                  <a:pt x="259168" y="792924"/>
                </a:lnTo>
                <a:lnTo>
                  <a:pt x="326669" y="728192"/>
                </a:lnTo>
                <a:lnTo>
                  <a:pt x="343547" y="744372"/>
                </a:lnTo>
                <a:lnTo>
                  <a:pt x="343547" y="621855"/>
                </a:lnTo>
                <a:lnTo>
                  <a:pt x="177190" y="621855"/>
                </a:lnTo>
                <a:lnTo>
                  <a:pt x="165366" y="624090"/>
                </a:lnTo>
                <a:lnTo>
                  <a:pt x="155803" y="630237"/>
                </a:lnTo>
                <a:lnTo>
                  <a:pt x="149390" y="639406"/>
                </a:lnTo>
                <a:lnTo>
                  <a:pt x="147053" y="650748"/>
                </a:lnTo>
                <a:lnTo>
                  <a:pt x="147053" y="938555"/>
                </a:lnTo>
                <a:lnTo>
                  <a:pt x="55448" y="938555"/>
                </a:lnTo>
                <a:lnTo>
                  <a:pt x="55448" y="953592"/>
                </a:lnTo>
                <a:lnTo>
                  <a:pt x="57785" y="964933"/>
                </a:lnTo>
                <a:lnTo>
                  <a:pt x="64185" y="974102"/>
                </a:lnTo>
                <a:lnTo>
                  <a:pt x="73748" y="980249"/>
                </a:lnTo>
                <a:lnTo>
                  <a:pt x="85585" y="982484"/>
                </a:lnTo>
                <a:lnTo>
                  <a:pt x="728078" y="982484"/>
                </a:lnTo>
                <a:lnTo>
                  <a:pt x="739902" y="980249"/>
                </a:lnTo>
                <a:lnTo>
                  <a:pt x="749477" y="974102"/>
                </a:lnTo>
                <a:lnTo>
                  <a:pt x="755878" y="964933"/>
                </a:lnTo>
                <a:lnTo>
                  <a:pt x="758215" y="953592"/>
                </a:lnTo>
                <a:lnTo>
                  <a:pt x="758215" y="938555"/>
                </a:lnTo>
                <a:close/>
              </a:path>
              <a:path w="811530" h="982979">
                <a:moveTo>
                  <a:pt x="811250" y="820661"/>
                </a:moveTo>
                <a:lnTo>
                  <a:pt x="791959" y="646125"/>
                </a:lnTo>
                <a:lnTo>
                  <a:pt x="779602" y="598589"/>
                </a:lnTo>
                <a:lnTo>
                  <a:pt x="747356" y="560590"/>
                </a:lnTo>
                <a:lnTo>
                  <a:pt x="712419" y="536155"/>
                </a:lnTo>
                <a:lnTo>
                  <a:pt x="684809" y="521296"/>
                </a:lnTo>
                <a:lnTo>
                  <a:pt x="674890" y="515950"/>
                </a:lnTo>
                <a:lnTo>
                  <a:pt x="657694" y="508571"/>
                </a:lnTo>
                <a:lnTo>
                  <a:pt x="635317" y="498983"/>
                </a:lnTo>
                <a:lnTo>
                  <a:pt x="594271" y="484301"/>
                </a:lnTo>
                <a:lnTo>
                  <a:pt x="535203" y="461187"/>
                </a:lnTo>
                <a:lnTo>
                  <a:pt x="530390" y="458876"/>
                </a:lnTo>
                <a:lnTo>
                  <a:pt x="527977" y="455409"/>
                </a:lnTo>
                <a:lnTo>
                  <a:pt x="527977" y="448475"/>
                </a:lnTo>
                <a:lnTo>
                  <a:pt x="527977" y="423037"/>
                </a:lnTo>
                <a:lnTo>
                  <a:pt x="558596" y="393801"/>
                </a:lnTo>
                <a:lnTo>
                  <a:pt x="581317" y="359041"/>
                </a:lnTo>
                <a:lnTo>
                  <a:pt x="595439" y="320154"/>
                </a:lnTo>
                <a:lnTo>
                  <a:pt x="600303" y="278561"/>
                </a:lnTo>
                <a:lnTo>
                  <a:pt x="600303" y="236943"/>
                </a:lnTo>
                <a:lnTo>
                  <a:pt x="607529" y="241566"/>
                </a:lnTo>
                <a:lnTo>
                  <a:pt x="624408" y="243878"/>
                </a:lnTo>
                <a:lnTo>
                  <a:pt x="621944" y="236943"/>
                </a:lnTo>
                <a:lnTo>
                  <a:pt x="603910" y="186093"/>
                </a:lnTo>
                <a:lnTo>
                  <a:pt x="599097" y="169913"/>
                </a:lnTo>
                <a:lnTo>
                  <a:pt x="597890" y="161810"/>
                </a:lnTo>
                <a:lnTo>
                  <a:pt x="594639" y="150253"/>
                </a:lnTo>
                <a:lnTo>
                  <a:pt x="585025" y="116052"/>
                </a:lnTo>
                <a:lnTo>
                  <a:pt x="561873" y="77431"/>
                </a:lnTo>
                <a:lnTo>
                  <a:pt x="550875" y="66535"/>
                </a:lnTo>
                <a:lnTo>
                  <a:pt x="550875" y="196494"/>
                </a:lnTo>
                <a:lnTo>
                  <a:pt x="550875" y="277406"/>
                </a:lnTo>
                <a:lnTo>
                  <a:pt x="543471" y="321119"/>
                </a:lnTo>
                <a:lnTo>
                  <a:pt x="522871" y="359181"/>
                </a:lnTo>
                <a:lnTo>
                  <a:pt x="501459" y="379730"/>
                </a:lnTo>
                <a:lnTo>
                  <a:pt x="501459" y="495858"/>
                </a:lnTo>
                <a:lnTo>
                  <a:pt x="477735" y="501916"/>
                </a:lnTo>
                <a:lnTo>
                  <a:pt x="453694" y="506120"/>
                </a:lnTo>
                <a:lnTo>
                  <a:pt x="429412" y="508381"/>
                </a:lnTo>
                <a:lnTo>
                  <a:pt x="405015" y="508571"/>
                </a:lnTo>
                <a:lnTo>
                  <a:pt x="381330" y="507733"/>
                </a:lnTo>
                <a:lnTo>
                  <a:pt x="357403" y="505256"/>
                </a:lnTo>
                <a:lnTo>
                  <a:pt x="333489" y="501256"/>
                </a:lnTo>
                <a:lnTo>
                  <a:pt x="309791" y="495858"/>
                </a:lnTo>
                <a:lnTo>
                  <a:pt x="319659" y="486854"/>
                </a:lnTo>
                <a:lnTo>
                  <a:pt x="327266" y="475780"/>
                </a:lnTo>
                <a:lnTo>
                  <a:pt x="332168" y="463194"/>
                </a:lnTo>
                <a:lnTo>
                  <a:pt x="333895" y="449630"/>
                </a:lnTo>
                <a:lnTo>
                  <a:pt x="333895" y="448475"/>
                </a:lnTo>
                <a:lnTo>
                  <a:pt x="369379" y="458876"/>
                </a:lnTo>
                <a:lnTo>
                  <a:pt x="406222" y="462343"/>
                </a:lnTo>
                <a:lnTo>
                  <a:pt x="443064" y="458876"/>
                </a:lnTo>
                <a:lnTo>
                  <a:pt x="478548" y="448475"/>
                </a:lnTo>
                <a:lnTo>
                  <a:pt x="478548" y="449630"/>
                </a:lnTo>
                <a:lnTo>
                  <a:pt x="480098" y="462546"/>
                </a:lnTo>
                <a:lnTo>
                  <a:pt x="484581" y="474916"/>
                </a:lnTo>
                <a:lnTo>
                  <a:pt x="491769" y="486194"/>
                </a:lnTo>
                <a:lnTo>
                  <a:pt x="501459" y="495858"/>
                </a:lnTo>
                <a:lnTo>
                  <a:pt x="501459" y="379730"/>
                </a:lnTo>
                <a:lnTo>
                  <a:pt x="491515" y="389255"/>
                </a:lnTo>
                <a:lnTo>
                  <a:pt x="451815" y="409003"/>
                </a:lnTo>
                <a:lnTo>
                  <a:pt x="406222" y="416102"/>
                </a:lnTo>
                <a:lnTo>
                  <a:pt x="362597" y="409752"/>
                </a:lnTo>
                <a:lnTo>
                  <a:pt x="324243" y="391922"/>
                </a:lnTo>
                <a:lnTo>
                  <a:pt x="293230" y="364426"/>
                </a:lnTo>
                <a:lnTo>
                  <a:pt x="271640" y="329107"/>
                </a:lnTo>
                <a:lnTo>
                  <a:pt x="264960" y="301675"/>
                </a:lnTo>
                <a:lnTo>
                  <a:pt x="261569" y="287807"/>
                </a:lnTo>
                <a:lnTo>
                  <a:pt x="305104" y="272884"/>
                </a:lnTo>
                <a:lnTo>
                  <a:pt x="351853" y="254711"/>
                </a:lnTo>
                <a:lnTo>
                  <a:pt x="398995" y="233337"/>
                </a:lnTo>
                <a:lnTo>
                  <a:pt x="443725" y="208775"/>
                </a:lnTo>
                <a:lnTo>
                  <a:pt x="483235" y="181076"/>
                </a:lnTo>
                <a:lnTo>
                  <a:pt x="514718" y="150253"/>
                </a:lnTo>
                <a:lnTo>
                  <a:pt x="523074" y="162191"/>
                </a:lnTo>
                <a:lnTo>
                  <a:pt x="531888" y="173812"/>
                </a:lnTo>
                <a:lnTo>
                  <a:pt x="541159" y="185204"/>
                </a:lnTo>
                <a:lnTo>
                  <a:pt x="550875" y="196494"/>
                </a:lnTo>
                <a:lnTo>
                  <a:pt x="550875" y="66535"/>
                </a:lnTo>
                <a:lnTo>
                  <a:pt x="529920" y="45758"/>
                </a:lnTo>
                <a:lnTo>
                  <a:pt x="505167" y="30048"/>
                </a:lnTo>
                <a:lnTo>
                  <a:pt x="490601" y="20802"/>
                </a:lnTo>
                <a:lnTo>
                  <a:pt x="485787" y="18491"/>
                </a:lnTo>
                <a:lnTo>
                  <a:pt x="479755" y="18491"/>
                </a:lnTo>
                <a:lnTo>
                  <a:pt x="474814" y="22047"/>
                </a:lnTo>
                <a:lnTo>
                  <a:pt x="464083" y="30048"/>
                </a:lnTo>
                <a:lnTo>
                  <a:pt x="452031" y="13868"/>
                </a:lnTo>
                <a:lnTo>
                  <a:pt x="413156" y="215"/>
                </a:lnTo>
                <a:lnTo>
                  <a:pt x="405015" y="0"/>
                </a:lnTo>
                <a:lnTo>
                  <a:pt x="358927" y="5740"/>
                </a:lnTo>
                <a:lnTo>
                  <a:pt x="316750" y="22047"/>
                </a:lnTo>
                <a:lnTo>
                  <a:pt x="279806" y="47523"/>
                </a:lnTo>
                <a:lnTo>
                  <a:pt x="249389" y="80822"/>
                </a:lnTo>
                <a:lnTo>
                  <a:pt x="226796" y="120535"/>
                </a:lnTo>
                <a:lnTo>
                  <a:pt x="213360" y="165277"/>
                </a:lnTo>
                <a:lnTo>
                  <a:pt x="213360" y="193027"/>
                </a:lnTo>
                <a:lnTo>
                  <a:pt x="212432" y="211874"/>
                </a:lnTo>
                <a:lnTo>
                  <a:pt x="209588" y="230301"/>
                </a:lnTo>
                <a:lnTo>
                  <a:pt x="204711" y="248285"/>
                </a:lnTo>
                <a:lnTo>
                  <a:pt x="197688" y="265849"/>
                </a:lnTo>
                <a:lnTo>
                  <a:pt x="177190" y="312077"/>
                </a:lnTo>
                <a:lnTo>
                  <a:pt x="185928" y="309968"/>
                </a:lnTo>
                <a:lnTo>
                  <a:pt x="192862" y="308178"/>
                </a:lnTo>
                <a:lnTo>
                  <a:pt x="215773" y="301675"/>
                </a:lnTo>
                <a:lnTo>
                  <a:pt x="223812" y="336207"/>
                </a:lnTo>
                <a:lnTo>
                  <a:pt x="238518" y="368134"/>
                </a:lnTo>
                <a:lnTo>
                  <a:pt x="259334" y="396608"/>
                </a:lnTo>
                <a:lnTo>
                  <a:pt x="285686" y="420725"/>
                </a:lnTo>
                <a:lnTo>
                  <a:pt x="285686" y="454253"/>
                </a:lnTo>
                <a:lnTo>
                  <a:pt x="283273" y="458876"/>
                </a:lnTo>
                <a:lnTo>
                  <a:pt x="278447" y="460032"/>
                </a:lnTo>
                <a:lnTo>
                  <a:pt x="219379" y="483146"/>
                </a:lnTo>
                <a:lnTo>
                  <a:pt x="178346" y="497827"/>
                </a:lnTo>
                <a:lnTo>
                  <a:pt x="138772" y="514794"/>
                </a:lnTo>
                <a:lnTo>
                  <a:pt x="101231" y="535000"/>
                </a:lnTo>
                <a:lnTo>
                  <a:pt x="66294" y="559435"/>
                </a:lnTo>
                <a:lnTo>
                  <a:pt x="33451" y="597433"/>
                </a:lnTo>
                <a:lnTo>
                  <a:pt x="20485" y="644969"/>
                </a:lnTo>
                <a:lnTo>
                  <a:pt x="0" y="820661"/>
                </a:lnTo>
                <a:lnTo>
                  <a:pt x="127" y="839546"/>
                </a:lnTo>
                <a:lnTo>
                  <a:pt x="30137" y="885393"/>
                </a:lnTo>
                <a:lnTo>
                  <a:pt x="73863" y="907986"/>
                </a:lnTo>
                <a:lnTo>
                  <a:pt x="89204" y="914285"/>
                </a:lnTo>
                <a:lnTo>
                  <a:pt x="122948" y="914285"/>
                </a:lnTo>
                <a:lnTo>
                  <a:pt x="122948" y="878459"/>
                </a:lnTo>
                <a:lnTo>
                  <a:pt x="105994" y="872134"/>
                </a:lnTo>
                <a:lnTo>
                  <a:pt x="89496" y="865162"/>
                </a:lnTo>
                <a:lnTo>
                  <a:pt x="73456" y="857326"/>
                </a:lnTo>
                <a:lnTo>
                  <a:pt x="57861" y="848398"/>
                </a:lnTo>
                <a:lnTo>
                  <a:pt x="50622" y="843775"/>
                </a:lnTo>
                <a:lnTo>
                  <a:pt x="47002" y="835685"/>
                </a:lnTo>
                <a:lnTo>
                  <a:pt x="48209" y="827595"/>
                </a:lnTo>
                <a:lnTo>
                  <a:pt x="68707" y="649592"/>
                </a:lnTo>
                <a:lnTo>
                  <a:pt x="68707" y="647280"/>
                </a:lnTo>
                <a:lnTo>
                  <a:pt x="70662" y="632167"/>
                </a:lnTo>
                <a:lnTo>
                  <a:pt x="96431" y="595261"/>
                </a:lnTo>
                <a:lnTo>
                  <a:pt x="161671" y="555967"/>
                </a:lnTo>
                <a:lnTo>
                  <a:pt x="197624" y="540651"/>
                </a:lnTo>
                <a:lnTo>
                  <a:pt x="235051" y="527075"/>
                </a:lnTo>
                <a:lnTo>
                  <a:pt x="254342" y="521296"/>
                </a:lnTo>
                <a:lnTo>
                  <a:pt x="284175" y="535305"/>
                </a:lnTo>
                <a:lnTo>
                  <a:pt x="320344" y="545858"/>
                </a:lnTo>
                <a:lnTo>
                  <a:pt x="361480" y="552500"/>
                </a:lnTo>
                <a:lnTo>
                  <a:pt x="406222" y="554812"/>
                </a:lnTo>
                <a:lnTo>
                  <a:pt x="451002" y="552500"/>
                </a:lnTo>
                <a:lnTo>
                  <a:pt x="492264" y="545858"/>
                </a:lnTo>
                <a:lnTo>
                  <a:pt x="528789" y="535305"/>
                </a:lnTo>
                <a:lnTo>
                  <a:pt x="559320" y="521296"/>
                </a:lnTo>
                <a:lnTo>
                  <a:pt x="577392" y="527075"/>
                </a:lnTo>
                <a:lnTo>
                  <a:pt x="614819" y="540651"/>
                </a:lnTo>
                <a:lnTo>
                  <a:pt x="650773" y="555967"/>
                </a:lnTo>
                <a:lnTo>
                  <a:pt x="684695" y="573887"/>
                </a:lnTo>
                <a:lnTo>
                  <a:pt x="727278" y="605828"/>
                </a:lnTo>
                <a:lnTo>
                  <a:pt x="742543" y="647280"/>
                </a:lnTo>
                <a:lnTo>
                  <a:pt x="764235" y="826439"/>
                </a:lnTo>
                <a:lnTo>
                  <a:pt x="739000" y="856335"/>
                </a:lnTo>
                <a:lnTo>
                  <a:pt x="689495" y="877303"/>
                </a:lnTo>
                <a:lnTo>
                  <a:pt x="689495" y="914285"/>
                </a:lnTo>
                <a:lnTo>
                  <a:pt x="722045" y="914285"/>
                </a:lnTo>
                <a:lnTo>
                  <a:pt x="737374" y="907986"/>
                </a:lnTo>
                <a:lnTo>
                  <a:pt x="781113" y="885393"/>
                </a:lnTo>
                <a:lnTo>
                  <a:pt x="811123" y="839546"/>
                </a:lnTo>
                <a:lnTo>
                  <a:pt x="811250" y="8206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3184753" y="5789752"/>
            <a:ext cx="866775" cy="527685"/>
          </a:xfrm>
          <a:custGeom>
            <a:avLst/>
            <a:gdLst/>
            <a:ahLst/>
            <a:cxnLst/>
            <a:rect l="l" t="t" r="r" b="b"/>
            <a:pathLst>
              <a:path w="866775" h="527685">
                <a:moveTo>
                  <a:pt x="565035" y="37693"/>
                </a:moveTo>
                <a:lnTo>
                  <a:pt x="562063" y="23050"/>
                </a:lnTo>
                <a:lnTo>
                  <a:pt x="553974" y="11074"/>
                </a:lnTo>
                <a:lnTo>
                  <a:pt x="541997" y="2971"/>
                </a:lnTo>
                <a:lnTo>
                  <a:pt x="527367" y="0"/>
                </a:lnTo>
                <a:lnTo>
                  <a:pt x="508533" y="0"/>
                </a:lnTo>
                <a:lnTo>
                  <a:pt x="508533" y="56540"/>
                </a:lnTo>
                <a:lnTo>
                  <a:pt x="508533" y="358063"/>
                </a:lnTo>
                <a:lnTo>
                  <a:pt x="56502" y="358063"/>
                </a:lnTo>
                <a:lnTo>
                  <a:pt x="56502" y="56540"/>
                </a:lnTo>
                <a:lnTo>
                  <a:pt x="508533" y="56540"/>
                </a:lnTo>
                <a:lnTo>
                  <a:pt x="508533" y="0"/>
                </a:lnTo>
                <a:lnTo>
                  <a:pt x="37668" y="0"/>
                </a:lnTo>
                <a:lnTo>
                  <a:pt x="23037" y="2971"/>
                </a:lnTo>
                <a:lnTo>
                  <a:pt x="11061" y="11074"/>
                </a:lnTo>
                <a:lnTo>
                  <a:pt x="2971" y="23050"/>
                </a:lnTo>
                <a:lnTo>
                  <a:pt x="0" y="37693"/>
                </a:lnTo>
                <a:lnTo>
                  <a:pt x="0" y="376897"/>
                </a:lnTo>
                <a:lnTo>
                  <a:pt x="2971" y="391541"/>
                </a:lnTo>
                <a:lnTo>
                  <a:pt x="11061" y="403517"/>
                </a:lnTo>
                <a:lnTo>
                  <a:pt x="23037" y="411619"/>
                </a:lnTo>
                <a:lnTo>
                  <a:pt x="37668" y="414591"/>
                </a:lnTo>
                <a:lnTo>
                  <a:pt x="226009" y="414591"/>
                </a:lnTo>
                <a:lnTo>
                  <a:pt x="226009" y="471131"/>
                </a:lnTo>
                <a:lnTo>
                  <a:pt x="141262" y="471131"/>
                </a:lnTo>
                <a:lnTo>
                  <a:pt x="141262" y="527659"/>
                </a:lnTo>
                <a:lnTo>
                  <a:pt x="423786" y="527659"/>
                </a:lnTo>
                <a:lnTo>
                  <a:pt x="423786" y="471131"/>
                </a:lnTo>
                <a:lnTo>
                  <a:pt x="339026" y="471131"/>
                </a:lnTo>
                <a:lnTo>
                  <a:pt x="339026" y="414591"/>
                </a:lnTo>
                <a:lnTo>
                  <a:pt x="527367" y="414591"/>
                </a:lnTo>
                <a:lnTo>
                  <a:pt x="541997" y="411619"/>
                </a:lnTo>
                <a:lnTo>
                  <a:pt x="553974" y="403517"/>
                </a:lnTo>
                <a:lnTo>
                  <a:pt x="562063" y="391541"/>
                </a:lnTo>
                <a:lnTo>
                  <a:pt x="565035" y="376897"/>
                </a:lnTo>
                <a:lnTo>
                  <a:pt x="565035" y="358063"/>
                </a:lnTo>
                <a:lnTo>
                  <a:pt x="565035" y="56540"/>
                </a:lnTo>
                <a:lnTo>
                  <a:pt x="565035" y="37693"/>
                </a:lnTo>
                <a:close/>
              </a:path>
              <a:path w="866775" h="527685">
                <a:moveTo>
                  <a:pt x="866394" y="37693"/>
                </a:moveTo>
                <a:lnTo>
                  <a:pt x="863422" y="23050"/>
                </a:lnTo>
                <a:lnTo>
                  <a:pt x="855332" y="11074"/>
                </a:lnTo>
                <a:lnTo>
                  <a:pt x="843356" y="2971"/>
                </a:lnTo>
                <a:lnTo>
                  <a:pt x="828725" y="0"/>
                </a:lnTo>
                <a:lnTo>
                  <a:pt x="828725" y="37693"/>
                </a:lnTo>
                <a:lnTo>
                  <a:pt x="828725" y="94221"/>
                </a:lnTo>
                <a:lnTo>
                  <a:pt x="828725" y="131914"/>
                </a:lnTo>
                <a:lnTo>
                  <a:pt x="828725" y="188455"/>
                </a:lnTo>
                <a:lnTo>
                  <a:pt x="762812" y="188455"/>
                </a:lnTo>
                <a:lnTo>
                  <a:pt x="762812" y="442861"/>
                </a:lnTo>
                <a:lnTo>
                  <a:pt x="760641" y="454037"/>
                </a:lnTo>
                <a:lnTo>
                  <a:pt x="754684" y="463003"/>
                </a:lnTo>
                <a:lnTo>
                  <a:pt x="745718" y="468960"/>
                </a:lnTo>
                <a:lnTo>
                  <a:pt x="734555" y="471131"/>
                </a:lnTo>
                <a:lnTo>
                  <a:pt x="723392" y="468960"/>
                </a:lnTo>
                <a:lnTo>
                  <a:pt x="714425" y="463003"/>
                </a:lnTo>
                <a:lnTo>
                  <a:pt x="708469" y="454037"/>
                </a:lnTo>
                <a:lnTo>
                  <a:pt x="706297" y="442861"/>
                </a:lnTo>
                <a:lnTo>
                  <a:pt x="708469" y="431685"/>
                </a:lnTo>
                <a:lnTo>
                  <a:pt x="745718" y="416763"/>
                </a:lnTo>
                <a:lnTo>
                  <a:pt x="762812" y="442861"/>
                </a:lnTo>
                <a:lnTo>
                  <a:pt x="762812" y="188455"/>
                </a:lnTo>
                <a:lnTo>
                  <a:pt x="640384" y="188455"/>
                </a:lnTo>
                <a:lnTo>
                  <a:pt x="640384" y="131914"/>
                </a:lnTo>
                <a:lnTo>
                  <a:pt x="828725" y="131914"/>
                </a:lnTo>
                <a:lnTo>
                  <a:pt x="828725" y="94221"/>
                </a:lnTo>
                <a:lnTo>
                  <a:pt x="640384" y="94221"/>
                </a:lnTo>
                <a:lnTo>
                  <a:pt x="640384" y="37693"/>
                </a:lnTo>
                <a:lnTo>
                  <a:pt x="828725" y="37693"/>
                </a:lnTo>
                <a:lnTo>
                  <a:pt x="828725" y="0"/>
                </a:lnTo>
                <a:lnTo>
                  <a:pt x="640384" y="0"/>
                </a:lnTo>
                <a:lnTo>
                  <a:pt x="625754" y="2971"/>
                </a:lnTo>
                <a:lnTo>
                  <a:pt x="613778" y="11074"/>
                </a:lnTo>
                <a:lnTo>
                  <a:pt x="605688" y="23050"/>
                </a:lnTo>
                <a:lnTo>
                  <a:pt x="602716" y="37693"/>
                </a:lnTo>
                <a:lnTo>
                  <a:pt x="602716" y="489978"/>
                </a:lnTo>
                <a:lnTo>
                  <a:pt x="605688" y="504609"/>
                </a:lnTo>
                <a:lnTo>
                  <a:pt x="613778" y="516597"/>
                </a:lnTo>
                <a:lnTo>
                  <a:pt x="625754" y="524687"/>
                </a:lnTo>
                <a:lnTo>
                  <a:pt x="640384" y="527659"/>
                </a:lnTo>
                <a:lnTo>
                  <a:pt x="828725" y="527659"/>
                </a:lnTo>
                <a:lnTo>
                  <a:pt x="843356" y="524687"/>
                </a:lnTo>
                <a:lnTo>
                  <a:pt x="855332" y="516597"/>
                </a:lnTo>
                <a:lnTo>
                  <a:pt x="863422" y="504609"/>
                </a:lnTo>
                <a:lnTo>
                  <a:pt x="866394" y="489978"/>
                </a:lnTo>
                <a:lnTo>
                  <a:pt x="866394" y="471131"/>
                </a:lnTo>
                <a:lnTo>
                  <a:pt x="866394" y="414591"/>
                </a:lnTo>
                <a:lnTo>
                  <a:pt x="866394" y="188455"/>
                </a:lnTo>
                <a:lnTo>
                  <a:pt x="866394" y="131914"/>
                </a:lnTo>
                <a:lnTo>
                  <a:pt x="866394" y="94221"/>
                </a:lnTo>
                <a:lnTo>
                  <a:pt x="866394" y="376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70971" y="1054638"/>
            <a:ext cx="1188217" cy="1299905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20356" y="3931920"/>
            <a:ext cx="2987040" cy="2221992"/>
          </a:xfrm>
          <a:prstGeom prst="rect">
            <a:avLst/>
          </a:prstGeom>
        </p:spPr>
      </p:pic>
      <p:sp>
        <p:nvSpPr>
          <p:cNvPr id="26" name="object 26" descr=""/>
          <p:cNvSpPr txBox="1"/>
          <p:nvPr/>
        </p:nvSpPr>
        <p:spPr>
          <a:xfrm>
            <a:off x="478027" y="1640585"/>
            <a:ext cx="10629265" cy="2317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latin typeface="Carlito"/>
                <a:cs typeface="Carlito"/>
              </a:rPr>
              <a:t>New</a:t>
            </a:r>
            <a:r>
              <a:rPr dirty="0" sz="1800" spc="-4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data</a:t>
            </a:r>
            <a:r>
              <a:rPr dirty="0" sz="1800" spc="-5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needs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to</a:t>
            </a:r>
            <a:r>
              <a:rPr dirty="0" sz="1800" spc="-5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be</a:t>
            </a:r>
            <a:r>
              <a:rPr dirty="0" sz="1800" spc="-3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imported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monthly</a:t>
            </a:r>
            <a:r>
              <a:rPr dirty="0" sz="1800" spc="-4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for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analysis</a:t>
            </a:r>
            <a:endParaRPr sz="1800">
              <a:latin typeface="Carlito"/>
              <a:cs typeface="Carlito"/>
            </a:endParaRPr>
          </a:p>
          <a:p>
            <a:pPr marL="299085" indent="-286385">
              <a:lnSpc>
                <a:spcPct val="100000"/>
              </a:lnSpc>
              <a:spcBef>
                <a:spcPts val="2014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latin typeface="Carlito"/>
                <a:cs typeface="Carlito"/>
              </a:rPr>
              <a:t>Adding</a:t>
            </a:r>
            <a:r>
              <a:rPr dirty="0" sz="1800" spc="-2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this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new</a:t>
            </a:r>
            <a:r>
              <a:rPr dirty="0" sz="1800" spc="-3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data</a:t>
            </a:r>
            <a:r>
              <a:rPr dirty="0" sz="1800" spc="-4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is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achieved</a:t>
            </a:r>
            <a:r>
              <a:rPr dirty="0" sz="1800" spc="-2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via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a</a:t>
            </a:r>
            <a:r>
              <a:rPr dirty="0" sz="1800" spc="-3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Python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script</a:t>
            </a:r>
            <a:endParaRPr sz="1800">
              <a:latin typeface="Carlito"/>
              <a:cs typeface="Carlito"/>
            </a:endParaRPr>
          </a:p>
          <a:p>
            <a:pPr marL="299085" indent="-286385">
              <a:lnSpc>
                <a:spcPct val="100000"/>
              </a:lnSpc>
              <a:spcBef>
                <a:spcPts val="202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latin typeface="Carlito"/>
                <a:cs typeface="Carlito"/>
              </a:rPr>
              <a:t>Able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to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track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the</a:t>
            </a:r>
            <a:r>
              <a:rPr dirty="0" sz="1800" spc="-2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last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customer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and</a:t>
            </a:r>
            <a:r>
              <a:rPr dirty="0" sz="1800" spc="-2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newest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customer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by</a:t>
            </a:r>
            <a:r>
              <a:rPr dirty="0" sz="1800" spc="-2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pulling</a:t>
            </a:r>
            <a:r>
              <a:rPr dirty="0" sz="1800" spc="-1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the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Customer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Number</a:t>
            </a:r>
            <a:r>
              <a:rPr dirty="0" sz="1800" spc="-3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in</a:t>
            </a:r>
            <a:r>
              <a:rPr dirty="0" sz="1800" spc="-2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the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Customer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Records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1800">
              <a:latin typeface="Carlito"/>
              <a:cs typeface="Carlito"/>
            </a:endParaRPr>
          </a:p>
          <a:p>
            <a:pPr algn="ctr" marR="539115">
              <a:lnSpc>
                <a:spcPct val="100000"/>
              </a:lnSpc>
            </a:pPr>
            <a:r>
              <a:rPr dirty="0" sz="1800">
                <a:latin typeface="Carlito"/>
                <a:cs typeface="Carlito"/>
              </a:rPr>
              <a:t>Old</a:t>
            </a:r>
            <a:r>
              <a:rPr dirty="0" sz="1800" spc="-10">
                <a:latin typeface="Carlito"/>
                <a:cs typeface="Carlito"/>
              </a:rPr>
              <a:t> Cust#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040629" y="5993688"/>
            <a:ext cx="1022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rlito"/>
                <a:cs typeface="Carlito"/>
              </a:rPr>
              <a:t>New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 spc="-20">
                <a:latin typeface="Carlito"/>
                <a:cs typeface="Carlito"/>
              </a:rPr>
              <a:t>Cust#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055234" y="4772659"/>
            <a:ext cx="5537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rlito"/>
                <a:cs typeface="Carlito"/>
              </a:rPr>
              <a:t>Script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1" y="1145857"/>
            <a:ext cx="804545" cy="123825"/>
          </a:xfrm>
          <a:custGeom>
            <a:avLst/>
            <a:gdLst/>
            <a:ahLst/>
            <a:cxnLst/>
            <a:rect l="l" t="t" r="r" b="b"/>
            <a:pathLst>
              <a:path w="804545" h="123825">
                <a:moveTo>
                  <a:pt x="0" y="123825"/>
                </a:moveTo>
                <a:lnTo>
                  <a:pt x="804189" y="123825"/>
                </a:lnTo>
                <a:lnTo>
                  <a:pt x="804189" y="0"/>
                </a:lnTo>
                <a:lnTo>
                  <a:pt x="0" y="0"/>
                </a:lnTo>
                <a:lnTo>
                  <a:pt x="0" y="1238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927" y="914400"/>
            <a:ext cx="3715512" cy="543458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38344" y="917447"/>
            <a:ext cx="6829044" cy="542848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8942" y="204343"/>
            <a:ext cx="449961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50">
                <a:solidFill>
                  <a:srgbClr val="000000"/>
                </a:solidFill>
              </a:rPr>
              <a:t>DATA</a:t>
            </a:r>
            <a:r>
              <a:rPr dirty="0" sz="3200" spc="-35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WAREHOUSE</a:t>
            </a:r>
            <a:r>
              <a:rPr dirty="0" sz="3200" spc="-145">
                <a:solidFill>
                  <a:srgbClr val="000000"/>
                </a:solidFill>
              </a:rPr>
              <a:t> </a:t>
            </a:r>
            <a:r>
              <a:rPr dirty="0" sz="3200" spc="-35">
                <a:solidFill>
                  <a:srgbClr val="000000"/>
                </a:solidFill>
              </a:rPr>
              <a:t>TABLES</a:t>
            </a:r>
            <a:endParaRPr sz="3200"/>
          </a:p>
        </p:txBody>
      </p:sp>
      <p:sp>
        <p:nvSpPr>
          <p:cNvPr id="6" name="object 6" descr=""/>
          <p:cNvSpPr txBox="1"/>
          <p:nvPr/>
        </p:nvSpPr>
        <p:spPr>
          <a:xfrm>
            <a:off x="1532000" y="6410959"/>
            <a:ext cx="23177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Carlito"/>
                <a:cs typeface="Carlito"/>
              </a:rPr>
              <a:t>Tables</a:t>
            </a:r>
            <a:r>
              <a:rPr dirty="0" sz="1800" spc="-60" b="1">
                <a:latin typeface="Carlito"/>
                <a:cs typeface="Carlito"/>
              </a:rPr>
              <a:t> </a:t>
            </a:r>
            <a:r>
              <a:rPr dirty="0" sz="1800" b="1">
                <a:latin typeface="Carlito"/>
                <a:cs typeface="Carlito"/>
              </a:rPr>
              <a:t>in</a:t>
            </a:r>
            <a:r>
              <a:rPr dirty="0" sz="1800" spc="-30" b="1">
                <a:latin typeface="Carlito"/>
                <a:cs typeface="Carlito"/>
              </a:rPr>
              <a:t> </a:t>
            </a:r>
            <a:r>
              <a:rPr dirty="0" sz="1800" b="1">
                <a:latin typeface="Carlito"/>
                <a:cs typeface="Carlito"/>
              </a:rPr>
              <a:t>Redshift</a:t>
            </a:r>
            <a:r>
              <a:rPr dirty="0" sz="1800" spc="-45" b="1">
                <a:latin typeface="Carlito"/>
                <a:cs typeface="Carlito"/>
              </a:rPr>
              <a:t> </a:t>
            </a:r>
            <a:r>
              <a:rPr dirty="0" sz="1800" spc="-10" b="1">
                <a:latin typeface="Carlito"/>
                <a:cs typeface="Carlito"/>
              </a:rPr>
              <a:t>(SaaS)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418323" y="6361277"/>
            <a:ext cx="23437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Carlito"/>
                <a:cs typeface="Carlito"/>
              </a:rPr>
              <a:t>Tables</a:t>
            </a:r>
            <a:r>
              <a:rPr dirty="0" sz="1800" spc="-50" b="1">
                <a:latin typeface="Carlito"/>
                <a:cs typeface="Carlito"/>
              </a:rPr>
              <a:t> </a:t>
            </a:r>
            <a:r>
              <a:rPr dirty="0" sz="1800" b="1">
                <a:latin typeface="Carlito"/>
                <a:cs typeface="Carlito"/>
              </a:rPr>
              <a:t>in</a:t>
            </a:r>
            <a:r>
              <a:rPr dirty="0" sz="1800" spc="-20" b="1">
                <a:latin typeface="Carlito"/>
                <a:cs typeface="Carlito"/>
              </a:rPr>
              <a:t> </a:t>
            </a:r>
            <a:r>
              <a:rPr dirty="0" sz="1800" spc="-10" b="1">
                <a:latin typeface="Carlito"/>
                <a:cs typeface="Carlito"/>
              </a:rPr>
              <a:t>Postgres</a:t>
            </a:r>
            <a:r>
              <a:rPr dirty="0" sz="1800" spc="-35" b="1">
                <a:latin typeface="Carlito"/>
                <a:cs typeface="Carlito"/>
              </a:rPr>
              <a:t> </a:t>
            </a:r>
            <a:r>
              <a:rPr dirty="0" sz="1800" spc="-10" b="1">
                <a:latin typeface="Carlito"/>
                <a:cs typeface="Carlito"/>
              </a:rPr>
              <a:t>(PaaS)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582400" y="0"/>
            <a:ext cx="609600" cy="204470"/>
          </a:xfrm>
          <a:prstGeom prst="rect">
            <a:avLst/>
          </a:prstGeom>
          <a:ln w="15875">
            <a:solidFill>
              <a:srgbClr val="13234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635">
              <a:lnSpc>
                <a:spcPts val="1550"/>
              </a:lnSpc>
            </a:pPr>
            <a:r>
              <a:rPr dirty="0" sz="1400" spc="-25" b="1">
                <a:latin typeface="Carlito"/>
                <a:cs typeface="Carlito"/>
              </a:rPr>
              <a:t>18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4702" y="788669"/>
            <a:ext cx="135699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>
                <a:solidFill>
                  <a:srgbClr val="000000"/>
                </a:solidFill>
              </a:rPr>
              <a:t>COSTS</a:t>
            </a:r>
            <a:endParaRPr sz="4000"/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67816" y="2692654"/>
          <a:ext cx="2856230" cy="1513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5580"/>
                <a:gridCol w="1301115"/>
              </a:tblGrid>
              <a:tr h="4159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Description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B93D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Liberation Sans Narrow"/>
                          <a:cs typeface="Liberation Sans Narrow"/>
                        </a:rPr>
                        <a:t>Costs</a:t>
                      </a:r>
                      <a:endParaRPr sz="18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B93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20">
                          <a:latin typeface="Carlito"/>
                          <a:cs typeface="Carlito"/>
                        </a:rPr>
                        <a:t>Glue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B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45">
                          <a:latin typeface="Trebuchet MS"/>
                          <a:cs typeface="Trebuchet MS"/>
                        </a:rPr>
                        <a:t>$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296.67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BF3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>
                          <a:latin typeface="Trebuchet MS"/>
                          <a:cs typeface="Trebuchet MS"/>
                        </a:rPr>
                        <a:t>Redshift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B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45">
                          <a:latin typeface="Trebuchet MS"/>
                          <a:cs typeface="Trebuchet MS"/>
                        </a:rPr>
                        <a:t>$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28.16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BF3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25" b="1">
                          <a:latin typeface="Carlito"/>
                          <a:cs typeface="Carlito"/>
                        </a:rPr>
                        <a:t>Total</a:t>
                      </a:r>
                      <a:r>
                        <a:rPr dirty="0" sz="1800" spc="-60" b="1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b="1">
                          <a:latin typeface="Carlito"/>
                          <a:cs typeface="Carlito"/>
                        </a:rPr>
                        <a:t>for</a:t>
                      </a:r>
                      <a:r>
                        <a:rPr dirty="0" sz="1800" spc="-50" b="1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20" b="1">
                          <a:latin typeface="Carlito"/>
                          <a:cs typeface="Carlito"/>
                        </a:rPr>
                        <a:t>SaaS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B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-10" b="1">
                          <a:latin typeface="Carlito"/>
                          <a:cs typeface="Carlito"/>
                        </a:rPr>
                        <a:t> 324.83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BF3"/>
                    </a:solidFill>
                  </a:tcPr>
                </a:tc>
              </a:tr>
            </a:tbl>
          </a:graphicData>
        </a:graphic>
      </p:graphicFrame>
      <p:grpSp>
        <p:nvGrpSpPr>
          <p:cNvPr id="4" name="object 4" descr=""/>
          <p:cNvGrpSpPr/>
          <p:nvPr/>
        </p:nvGrpSpPr>
        <p:grpSpPr>
          <a:xfrm>
            <a:off x="3952397" y="2322576"/>
            <a:ext cx="7658734" cy="3806190"/>
            <a:chOff x="3952397" y="2322576"/>
            <a:chExt cx="7658734" cy="380619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90688" y="2329434"/>
              <a:ext cx="3819905" cy="379933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2397" y="2322576"/>
              <a:ext cx="3813241" cy="3725514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50529" y="996207"/>
            <a:ext cx="6843742" cy="89861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1582400" y="0"/>
            <a:ext cx="609600" cy="204470"/>
          </a:xfrm>
          <a:prstGeom prst="rect">
            <a:avLst/>
          </a:prstGeom>
          <a:ln w="15875">
            <a:solidFill>
              <a:srgbClr val="13234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635">
              <a:lnSpc>
                <a:spcPts val="1550"/>
              </a:lnSpc>
            </a:pPr>
            <a:r>
              <a:rPr dirty="0" sz="1400" spc="-25" b="1">
                <a:latin typeface="Carlito"/>
                <a:cs typeface="Carlito"/>
              </a:rPr>
              <a:t>19</a:t>
            </a:r>
            <a:endParaRPr sz="1400">
              <a:latin typeface="Carlito"/>
              <a:cs typeface="Carlito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68808" y="4430498"/>
          <a:ext cx="2854325" cy="1148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/>
                <a:gridCol w="1242695"/>
              </a:tblGrid>
              <a:tr h="4159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Description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B93D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Liberation Sans Narrow"/>
                          <a:cs typeface="Liberation Sans Narrow"/>
                        </a:rPr>
                        <a:t>Costs</a:t>
                      </a:r>
                      <a:endParaRPr sz="18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B93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EC2</a:t>
                      </a:r>
                      <a:r>
                        <a:rPr dirty="0" sz="1800" spc="-40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Instance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B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45">
                          <a:latin typeface="Trebuchet MS"/>
                          <a:cs typeface="Trebuchet MS"/>
                        </a:rPr>
                        <a:t>$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25.71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BF3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25" b="1">
                          <a:latin typeface="Carlito"/>
                          <a:cs typeface="Carlito"/>
                        </a:rPr>
                        <a:t>Total</a:t>
                      </a:r>
                      <a:r>
                        <a:rPr dirty="0" sz="1800" spc="-60" b="1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b="1">
                          <a:latin typeface="Carlito"/>
                          <a:cs typeface="Carlito"/>
                        </a:rPr>
                        <a:t>for</a:t>
                      </a:r>
                      <a:r>
                        <a:rPr dirty="0" sz="1800" spc="-50" b="1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20" b="1">
                          <a:latin typeface="Carlito"/>
                          <a:cs typeface="Carlito"/>
                        </a:rPr>
                        <a:t>PaaS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B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-10" b="1">
                          <a:latin typeface="Carlito"/>
                          <a:cs typeface="Carlito"/>
                        </a:rPr>
                        <a:t> 25.71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BF3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650240" y="2156916"/>
            <a:ext cx="12655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rlito"/>
                <a:cs typeface="Carlito"/>
              </a:rPr>
              <a:t>Unique</a:t>
            </a:r>
            <a:r>
              <a:rPr dirty="0" sz="1800" spc="-40" b="1">
                <a:latin typeface="Carlito"/>
                <a:cs typeface="Carlito"/>
              </a:rPr>
              <a:t> </a:t>
            </a:r>
            <a:r>
              <a:rPr dirty="0" sz="1800" spc="-20" b="1">
                <a:latin typeface="Carlito"/>
                <a:cs typeface="Carlito"/>
              </a:rPr>
              <a:t>Costs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8511" y="28859"/>
            <a:ext cx="8603488" cy="679970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7164" y="1370152"/>
            <a:ext cx="4014470" cy="3319145"/>
          </a:xfrm>
          <a:prstGeom prst="rect"/>
        </p:spPr>
        <p:txBody>
          <a:bodyPr wrap="square" lIns="0" tIns="200025" rIns="0" bIns="0" rtlCol="0" vert="horz">
            <a:spAutoFit/>
          </a:bodyPr>
          <a:lstStyle/>
          <a:p>
            <a:pPr marL="12700" marR="5080">
              <a:lnSpc>
                <a:spcPts val="8159"/>
              </a:lnSpc>
              <a:spcBef>
                <a:spcPts val="1575"/>
              </a:spcBef>
            </a:pPr>
            <a:r>
              <a:rPr dirty="0" sz="8000" spc="-10"/>
              <a:t>QUERIES </a:t>
            </a:r>
            <a:r>
              <a:rPr dirty="0" sz="8000" spc="-25"/>
              <a:t>AND </a:t>
            </a:r>
            <a:r>
              <a:rPr dirty="0" sz="8000" spc="-10"/>
              <a:t>ANA</a:t>
            </a:r>
            <a:r>
              <a:rPr dirty="0" sz="8000" spc="-735"/>
              <a:t>L</a:t>
            </a:r>
            <a:r>
              <a:rPr dirty="0" sz="8000" spc="-125"/>
              <a:t>Y</a:t>
            </a:r>
            <a:r>
              <a:rPr dirty="0" sz="8000" spc="-10"/>
              <a:t>SIS</a:t>
            </a:r>
            <a:endParaRPr sz="8000"/>
          </a:p>
        </p:txBody>
      </p:sp>
      <p:sp>
        <p:nvSpPr>
          <p:cNvPr id="5" name="object 5" descr=""/>
          <p:cNvSpPr/>
          <p:nvPr/>
        </p:nvSpPr>
        <p:spPr>
          <a:xfrm>
            <a:off x="761" y="1145857"/>
            <a:ext cx="804545" cy="123825"/>
          </a:xfrm>
          <a:custGeom>
            <a:avLst/>
            <a:gdLst/>
            <a:ahLst/>
            <a:cxnLst/>
            <a:rect l="l" t="t" r="r" b="b"/>
            <a:pathLst>
              <a:path w="804545" h="123825">
                <a:moveTo>
                  <a:pt x="0" y="123825"/>
                </a:moveTo>
                <a:lnTo>
                  <a:pt x="804189" y="123825"/>
                </a:lnTo>
                <a:lnTo>
                  <a:pt x="804189" y="0"/>
                </a:lnTo>
                <a:lnTo>
                  <a:pt x="0" y="0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11575986" y="-9461"/>
            <a:ext cx="625475" cy="220345"/>
            <a:chOff x="11575986" y="-9461"/>
            <a:chExt cx="625475" cy="220345"/>
          </a:xfrm>
        </p:grpSpPr>
        <p:sp>
          <p:nvSpPr>
            <p:cNvPr id="7" name="object 7" descr=""/>
            <p:cNvSpPr/>
            <p:nvPr/>
          </p:nvSpPr>
          <p:spPr>
            <a:xfrm>
              <a:off x="11583923" y="-1524"/>
              <a:ext cx="609600" cy="204470"/>
            </a:xfrm>
            <a:custGeom>
              <a:avLst/>
              <a:gdLst/>
              <a:ahLst/>
              <a:cxnLst/>
              <a:rect l="l" t="t" r="r" b="b"/>
              <a:pathLst>
                <a:path w="609600" h="204470">
                  <a:moveTo>
                    <a:pt x="609600" y="0"/>
                  </a:moveTo>
                  <a:lnTo>
                    <a:pt x="0" y="0"/>
                  </a:lnTo>
                  <a:lnTo>
                    <a:pt x="0" y="204216"/>
                  </a:lnTo>
                  <a:lnTo>
                    <a:pt x="609600" y="204216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1583923" y="-1524"/>
              <a:ext cx="609600" cy="204470"/>
            </a:xfrm>
            <a:custGeom>
              <a:avLst/>
              <a:gdLst/>
              <a:ahLst/>
              <a:cxnLst/>
              <a:rect l="l" t="t" r="r" b="b"/>
              <a:pathLst>
                <a:path w="609600" h="204470">
                  <a:moveTo>
                    <a:pt x="0" y="204216"/>
                  </a:moveTo>
                  <a:lnTo>
                    <a:pt x="609600" y="204216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204216"/>
                  </a:lnTo>
                  <a:close/>
                </a:path>
              </a:pathLst>
            </a:custGeom>
            <a:ln w="15874">
              <a:solidFill>
                <a:srgbClr val="1323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1786743" y="-31241"/>
            <a:ext cx="2063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latin typeface="Carlito"/>
                <a:cs typeface="Carlito"/>
              </a:rPr>
              <a:t>20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210705" y="1420622"/>
          <a:ext cx="5801995" cy="40716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2050"/>
                <a:gridCol w="1332864"/>
                <a:gridCol w="1804035"/>
                <a:gridCol w="1413510"/>
              </a:tblGrid>
              <a:tr h="5886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Month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1517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Total</a:t>
                      </a:r>
                      <a:r>
                        <a:rPr dirty="0" sz="1800" spc="-6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Tastings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1517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Tasting</a:t>
                      </a:r>
                      <a:r>
                        <a:rPr dirty="0" sz="1800" spc="-4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and</a:t>
                      </a:r>
                      <a:r>
                        <a:rPr dirty="0" sz="1800" spc="-15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Bottle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1517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Percentage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1517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January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47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30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63.83%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February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52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26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50%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March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82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44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53.66%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0">
                          <a:latin typeface="Carlito"/>
                          <a:cs typeface="Carlito"/>
                        </a:rPr>
                        <a:t>April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72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42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58.33%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May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81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40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49.38%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0">
                          <a:latin typeface="Carlito"/>
                          <a:cs typeface="Carlito"/>
                        </a:rPr>
                        <a:t>June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98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63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>
                          <a:latin typeface="Carlito"/>
                          <a:cs typeface="Carlito"/>
                        </a:rPr>
                        <a:t>64 </a:t>
                      </a:r>
                      <a:r>
                        <a:rPr dirty="0" sz="1700" spc="-20">
                          <a:latin typeface="Carlito"/>
                          <a:cs typeface="Carlito"/>
                        </a:rPr>
                        <a:t>.29%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0">
                          <a:latin typeface="Carlito"/>
                          <a:cs typeface="Carlito"/>
                        </a:rPr>
                        <a:t>July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89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46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51.69%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August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58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27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46.55%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September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61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31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50.82%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October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110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66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60%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2073910" y="5669381"/>
            <a:ext cx="1689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rlito"/>
                <a:cs typeface="Carlito"/>
              </a:rPr>
              <a:t>Pearmund</a:t>
            </a:r>
            <a:r>
              <a:rPr dirty="0" sz="1800" spc="-40" b="1">
                <a:latin typeface="Carlito"/>
                <a:cs typeface="Carlito"/>
              </a:rPr>
              <a:t> </a:t>
            </a:r>
            <a:r>
              <a:rPr dirty="0" sz="1800" spc="-10" b="1">
                <a:latin typeface="Carlito"/>
                <a:cs typeface="Carlito"/>
              </a:rPr>
              <a:t>Cellars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156829" y="5668467"/>
            <a:ext cx="16783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rlito"/>
                <a:cs typeface="Carlito"/>
              </a:rPr>
              <a:t>Effingham</a:t>
            </a:r>
            <a:r>
              <a:rPr dirty="0" sz="1800" spc="-75" b="1">
                <a:latin typeface="Carlito"/>
                <a:cs typeface="Carlito"/>
              </a:rPr>
              <a:t> </a:t>
            </a:r>
            <a:r>
              <a:rPr dirty="0" sz="1800" spc="-10" b="1">
                <a:latin typeface="Carlito"/>
                <a:cs typeface="Carlito"/>
              </a:rPr>
              <a:t>Manor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2223" y="537717"/>
            <a:ext cx="81781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35">
                <a:solidFill>
                  <a:srgbClr val="000000"/>
                </a:solidFill>
                <a:latin typeface="Liberation Sans Narrow"/>
                <a:cs typeface="Liberation Sans Narrow"/>
              </a:rPr>
              <a:t>How</a:t>
            </a:r>
            <a:r>
              <a:rPr dirty="0" sz="2400" spc="25">
                <a:solidFill>
                  <a:srgbClr val="000000"/>
                </a:solidFill>
                <a:latin typeface="Liberation Sans Narrow"/>
                <a:cs typeface="Liberation Sans Narrow"/>
              </a:rPr>
              <a:t> </a:t>
            </a:r>
            <a:r>
              <a:rPr dirty="0" sz="2400" spc="85">
                <a:solidFill>
                  <a:srgbClr val="000000"/>
                </a:solidFill>
                <a:latin typeface="Liberation Sans Narrow"/>
                <a:cs typeface="Liberation Sans Narrow"/>
              </a:rPr>
              <a:t>many</a:t>
            </a:r>
            <a:r>
              <a:rPr dirty="0" sz="2400" spc="25">
                <a:solidFill>
                  <a:srgbClr val="000000"/>
                </a:solidFill>
                <a:latin typeface="Liberation Sans Narrow"/>
                <a:cs typeface="Liberation Sans Narrow"/>
              </a:rPr>
              <a:t> </a:t>
            </a:r>
            <a:r>
              <a:rPr dirty="0" sz="2400" spc="80">
                <a:solidFill>
                  <a:srgbClr val="000000"/>
                </a:solidFill>
                <a:latin typeface="Liberation Sans Narrow"/>
                <a:cs typeface="Liberation Sans Narrow"/>
              </a:rPr>
              <a:t>people</a:t>
            </a:r>
            <a:r>
              <a:rPr dirty="0" sz="2400" spc="35">
                <a:solidFill>
                  <a:srgbClr val="000000"/>
                </a:solidFill>
                <a:latin typeface="Liberation Sans Narrow"/>
                <a:cs typeface="Liberation Sans Narrow"/>
              </a:rPr>
              <a:t> </a:t>
            </a:r>
            <a:r>
              <a:rPr dirty="0" sz="2400" spc="130">
                <a:solidFill>
                  <a:srgbClr val="000000"/>
                </a:solidFill>
                <a:latin typeface="Liberation Sans Narrow"/>
                <a:cs typeface="Liberation Sans Narrow"/>
              </a:rPr>
              <a:t>who</a:t>
            </a:r>
            <a:r>
              <a:rPr dirty="0" sz="2400" spc="25">
                <a:solidFill>
                  <a:srgbClr val="000000"/>
                </a:solidFill>
                <a:latin typeface="Liberation Sans Narrow"/>
                <a:cs typeface="Liberation Sans Narrow"/>
              </a:rPr>
              <a:t> </a:t>
            </a:r>
            <a:r>
              <a:rPr dirty="0" sz="2400" spc="60">
                <a:solidFill>
                  <a:srgbClr val="000000"/>
                </a:solidFill>
                <a:latin typeface="Liberation Sans Narrow"/>
                <a:cs typeface="Liberation Sans Narrow"/>
              </a:rPr>
              <a:t>bought</a:t>
            </a:r>
            <a:r>
              <a:rPr dirty="0" sz="2400" spc="40">
                <a:solidFill>
                  <a:srgbClr val="000000"/>
                </a:solidFill>
                <a:latin typeface="Liberation Sans Narrow"/>
                <a:cs typeface="Liberation Sans Narrow"/>
              </a:rPr>
              <a:t> </a:t>
            </a:r>
            <a:r>
              <a:rPr dirty="0" sz="2400" spc="75">
                <a:solidFill>
                  <a:srgbClr val="000000"/>
                </a:solidFill>
                <a:latin typeface="Liberation Sans Narrow"/>
                <a:cs typeface="Liberation Sans Narrow"/>
              </a:rPr>
              <a:t>a</a:t>
            </a:r>
            <a:r>
              <a:rPr dirty="0" sz="2400" spc="45">
                <a:solidFill>
                  <a:srgbClr val="000000"/>
                </a:solidFill>
                <a:latin typeface="Liberation Sans Narrow"/>
                <a:cs typeface="Liberation Sans Narrow"/>
              </a:rPr>
              <a:t> </a:t>
            </a:r>
            <a:r>
              <a:rPr dirty="0" sz="2400">
                <a:solidFill>
                  <a:srgbClr val="000000"/>
                </a:solidFill>
                <a:latin typeface="Liberation Sans Narrow"/>
                <a:cs typeface="Liberation Sans Narrow"/>
              </a:rPr>
              <a:t>‘tasting’,</a:t>
            </a:r>
            <a:r>
              <a:rPr dirty="0" sz="2400" spc="50">
                <a:solidFill>
                  <a:srgbClr val="000000"/>
                </a:solidFill>
                <a:latin typeface="Liberation Sans Narrow"/>
                <a:cs typeface="Liberation Sans Narrow"/>
              </a:rPr>
              <a:t> </a:t>
            </a:r>
            <a:r>
              <a:rPr dirty="0" sz="2400">
                <a:solidFill>
                  <a:srgbClr val="000000"/>
                </a:solidFill>
                <a:latin typeface="Liberation Sans Narrow"/>
                <a:cs typeface="Liberation Sans Narrow"/>
              </a:rPr>
              <a:t>also</a:t>
            </a:r>
            <a:r>
              <a:rPr dirty="0" sz="2400" spc="50">
                <a:solidFill>
                  <a:srgbClr val="000000"/>
                </a:solidFill>
                <a:latin typeface="Liberation Sans Narrow"/>
                <a:cs typeface="Liberation Sans Narrow"/>
              </a:rPr>
              <a:t> </a:t>
            </a:r>
            <a:r>
              <a:rPr dirty="0" sz="2400" spc="65">
                <a:solidFill>
                  <a:srgbClr val="000000"/>
                </a:solidFill>
                <a:latin typeface="Liberation Sans Narrow"/>
                <a:cs typeface="Liberation Sans Narrow"/>
              </a:rPr>
              <a:t>bought</a:t>
            </a:r>
            <a:r>
              <a:rPr dirty="0" sz="2400" spc="30">
                <a:solidFill>
                  <a:srgbClr val="000000"/>
                </a:solidFill>
                <a:latin typeface="Liberation Sans Narrow"/>
                <a:cs typeface="Liberation Sans Narrow"/>
              </a:rPr>
              <a:t> </a:t>
            </a:r>
            <a:r>
              <a:rPr dirty="0" sz="2400" spc="75">
                <a:solidFill>
                  <a:srgbClr val="000000"/>
                </a:solidFill>
                <a:latin typeface="Liberation Sans Narrow"/>
                <a:cs typeface="Liberation Sans Narrow"/>
              </a:rPr>
              <a:t>a</a:t>
            </a:r>
            <a:r>
              <a:rPr dirty="0" sz="2400" spc="40">
                <a:solidFill>
                  <a:srgbClr val="000000"/>
                </a:solidFill>
                <a:latin typeface="Liberation Sans Narrow"/>
                <a:cs typeface="Liberation Sans Narrow"/>
              </a:rPr>
              <a:t> </a:t>
            </a:r>
            <a:r>
              <a:rPr dirty="0" sz="2400" spc="60">
                <a:solidFill>
                  <a:srgbClr val="000000"/>
                </a:solidFill>
                <a:latin typeface="Liberation Sans Narrow"/>
                <a:cs typeface="Liberation Sans Narrow"/>
              </a:rPr>
              <a:t>‘bottle’?</a:t>
            </a:r>
            <a:endParaRPr sz="2400">
              <a:latin typeface="Liberation Sans Narrow"/>
              <a:cs typeface="Liberation Sans Narrow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6166865" y="1420367"/>
          <a:ext cx="5801995" cy="40709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2050"/>
                <a:gridCol w="1332230"/>
                <a:gridCol w="1803399"/>
                <a:gridCol w="1412875"/>
              </a:tblGrid>
              <a:tr h="5886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Month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1517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Total</a:t>
                      </a:r>
                      <a:r>
                        <a:rPr dirty="0" sz="1800" spc="-6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Tastings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1517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Tasting</a:t>
                      </a:r>
                      <a:r>
                        <a:rPr dirty="0" sz="1800" spc="-4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and</a:t>
                      </a:r>
                      <a:r>
                        <a:rPr dirty="0" sz="1800" spc="-15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Bottle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1517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Percentage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1517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January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69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35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50.72%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February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63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24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>
                          <a:latin typeface="Carlito"/>
                          <a:cs typeface="Carlito"/>
                        </a:rPr>
                        <a:t>38.</a:t>
                      </a:r>
                      <a:r>
                        <a:rPr dirty="0" sz="1700" spc="-25">
                          <a:latin typeface="Carlito"/>
                          <a:cs typeface="Carlito"/>
                        </a:rPr>
                        <a:t> 10%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March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68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37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54.41%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0">
                          <a:latin typeface="Carlito"/>
                          <a:cs typeface="Carlito"/>
                        </a:rPr>
                        <a:t>April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99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53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53.54%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May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76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37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48.68%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0">
                          <a:latin typeface="Carlito"/>
                          <a:cs typeface="Carlito"/>
                        </a:rPr>
                        <a:t>June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79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44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55.70%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0">
                          <a:latin typeface="Carlito"/>
                          <a:cs typeface="Carlito"/>
                        </a:rPr>
                        <a:t>July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57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34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59.65%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August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72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41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56.94%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September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60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35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58.33%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October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68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25">
                          <a:latin typeface="Carlito"/>
                          <a:cs typeface="Carlito"/>
                        </a:rPr>
                        <a:t>48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700" spc="-10">
                          <a:latin typeface="Carlito"/>
                          <a:cs typeface="Carlito"/>
                        </a:rPr>
                        <a:t>70.59%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11582400" y="0"/>
            <a:ext cx="609600" cy="204470"/>
          </a:xfrm>
          <a:prstGeom prst="rect">
            <a:avLst/>
          </a:prstGeom>
          <a:ln w="15875">
            <a:solidFill>
              <a:srgbClr val="13234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635">
              <a:lnSpc>
                <a:spcPts val="1550"/>
              </a:lnSpc>
            </a:pPr>
            <a:r>
              <a:rPr dirty="0" sz="1400" spc="-25" b="1">
                <a:latin typeface="Carlito"/>
                <a:cs typeface="Carlito"/>
              </a:rPr>
              <a:t>21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224561" y="1355978"/>
          <a:ext cx="5787390" cy="4361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905"/>
                <a:gridCol w="3537585"/>
              </a:tblGrid>
              <a:tr h="418465">
                <a:tc>
                  <a:txBody>
                    <a:bodyPr/>
                    <a:lstStyle/>
                    <a:p>
                      <a:pPr algn="ctr" marR="501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Last</a:t>
                      </a:r>
                      <a:r>
                        <a:rPr dirty="0" sz="2000" spc="-55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2000" spc="-2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Name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Rose</a:t>
                      </a:r>
                      <a:r>
                        <a:rPr dirty="0" sz="2000" spc="-5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Bottles</a:t>
                      </a:r>
                      <a:r>
                        <a:rPr dirty="0" sz="2000" spc="-65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Count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 marR="463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Triplett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77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Segal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26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Rafferty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26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Pearson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19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20">
                          <a:latin typeface="Carlito"/>
                          <a:cs typeface="Carlito"/>
                        </a:rPr>
                        <a:t>Hurt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18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Wiley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15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Martin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12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Garber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11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May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10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Bloom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10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6189979" y="1356105"/>
          <a:ext cx="5785485" cy="43491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3605"/>
                <a:gridCol w="3522979"/>
              </a:tblGrid>
              <a:tr h="418465">
                <a:tc>
                  <a:txBody>
                    <a:bodyPr/>
                    <a:lstStyle/>
                    <a:p>
                      <a:pPr algn="ctr" marR="488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Last</a:t>
                      </a:r>
                      <a:r>
                        <a:rPr dirty="0" sz="2000" spc="-3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2000" spc="-2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Name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Kings</a:t>
                      </a:r>
                      <a:r>
                        <a:rPr dirty="0" sz="2000" spc="-25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Ransom</a:t>
                      </a:r>
                      <a:r>
                        <a:rPr dirty="0" sz="2000" spc="-35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Bottles</a:t>
                      </a:r>
                      <a:r>
                        <a:rPr dirty="0" sz="2000" spc="-45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Count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 marR="469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Lutender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32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 marR="4318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Schmidt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254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24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Segal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19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20">
                          <a:latin typeface="Carlito"/>
                          <a:cs typeface="Carlito"/>
                        </a:rPr>
                        <a:t>King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14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20">
                          <a:latin typeface="Carlito"/>
                          <a:cs typeface="Carlito"/>
                        </a:rPr>
                        <a:t>Yost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13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Triplett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12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Kaplan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25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12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Tribbey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25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11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Ousley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11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Riveria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25">
                          <a:latin typeface="Carlito"/>
                          <a:cs typeface="Carlito"/>
                        </a:rPr>
                        <a:t>10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02360" y="571957"/>
            <a:ext cx="898461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00"/>
                </a:solidFill>
              </a:rPr>
              <a:t>Who</a:t>
            </a:r>
            <a:r>
              <a:rPr dirty="0" sz="2400" spc="-5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purchased</a:t>
            </a:r>
            <a:r>
              <a:rPr dirty="0" sz="2400" spc="-6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the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most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Rose</a:t>
            </a:r>
            <a:r>
              <a:rPr dirty="0" sz="2400" spc="-6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and</a:t>
            </a:r>
            <a:r>
              <a:rPr dirty="0" sz="2400" spc="-6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Kings</a:t>
            </a:r>
            <a:r>
              <a:rPr dirty="0" sz="2400" spc="-5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Ransom</a:t>
            </a:r>
            <a:r>
              <a:rPr dirty="0" sz="2400" spc="-6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at</a:t>
            </a:r>
            <a:r>
              <a:rPr dirty="0" sz="2400" spc="-5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Effingham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Manor?</a:t>
            </a:r>
            <a:endParaRPr sz="2400"/>
          </a:p>
        </p:txBody>
      </p:sp>
      <p:sp>
        <p:nvSpPr>
          <p:cNvPr id="5" name="object 5" descr=""/>
          <p:cNvSpPr txBox="1"/>
          <p:nvPr/>
        </p:nvSpPr>
        <p:spPr>
          <a:xfrm>
            <a:off x="11582400" y="0"/>
            <a:ext cx="609600" cy="204470"/>
          </a:xfrm>
          <a:prstGeom prst="rect">
            <a:avLst/>
          </a:prstGeom>
          <a:ln w="15875">
            <a:solidFill>
              <a:srgbClr val="13234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635">
              <a:lnSpc>
                <a:spcPts val="1550"/>
              </a:lnSpc>
            </a:pPr>
            <a:r>
              <a:rPr dirty="0" sz="1400" spc="-25" b="1">
                <a:latin typeface="Carlito"/>
                <a:cs typeface="Carlito"/>
              </a:rPr>
              <a:t>22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582400" y="0"/>
            <a:ext cx="609600" cy="204470"/>
          </a:xfrm>
          <a:prstGeom prst="rect">
            <a:avLst/>
          </a:prstGeom>
          <a:ln w="15875">
            <a:solidFill>
              <a:srgbClr val="13234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635">
              <a:lnSpc>
                <a:spcPts val="1550"/>
              </a:lnSpc>
            </a:pPr>
            <a:r>
              <a:rPr dirty="0" sz="1400" spc="-25" b="1">
                <a:latin typeface="Carlito"/>
                <a:cs typeface="Carlito"/>
              </a:rPr>
              <a:t>23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2277" y="542925"/>
            <a:ext cx="1090485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00"/>
                </a:solidFill>
              </a:rPr>
              <a:t>Who</a:t>
            </a:r>
            <a:r>
              <a:rPr dirty="0" sz="2400" spc="-5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purchased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the</a:t>
            </a:r>
            <a:r>
              <a:rPr dirty="0" sz="2400" spc="-4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most</a:t>
            </a:r>
            <a:r>
              <a:rPr dirty="0" sz="2400" spc="-7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Chardonnay</a:t>
            </a:r>
            <a:r>
              <a:rPr dirty="0" sz="2400" spc="-5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and</a:t>
            </a:r>
            <a:r>
              <a:rPr dirty="0" sz="2400" spc="-3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8</a:t>
            </a:r>
            <a:r>
              <a:rPr dirty="0" baseline="24305" sz="2400">
                <a:solidFill>
                  <a:srgbClr val="000000"/>
                </a:solidFill>
              </a:rPr>
              <a:t>th</a:t>
            </a:r>
            <a:r>
              <a:rPr dirty="0" baseline="24305" sz="2400" spc="179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Mission</a:t>
            </a:r>
            <a:r>
              <a:rPr dirty="0" sz="2400" spc="-5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Black</a:t>
            </a:r>
            <a:r>
              <a:rPr dirty="0" sz="2400" spc="-6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Ops</a:t>
            </a:r>
            <a:r>
              <a:rPr dirty="0" sz="2400" spc="-5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at</a:t>
            </a:r>
            <a:r>
              <a:rPr dirty="0" sz="2400" spc="-5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Pearmund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Cellars?</a:t>
            </a:r>
            <a:endParaRPr sz="2400"/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089650" y="1301114"/>
          <a:ext cx="6089015" cy="45866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7060"/>
                <a:gridCol w="4123054"/>
              </a:tblGrid>
              <a:tr h="497205">
                <a:tc>
                  <a:txBody>
                    <a:bodyPr/>
                    <a:lstStyle/>
                    <a:p>
                      <a:pPr algn="ctr" marR="4889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Last</a:t>
                      </a:r>
                      <a:r>
                        <a:rPr dirty="0" sz="2000" spc="-3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2000" spc="-2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Name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800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8</a:t>
                      </a:r>
                      <a:r>
                        <a:rPr dirty="0" baseline="25641" sz="195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th</a:t>
                      </a:r>
                      <a:r>
                        <a:rPr dirty="0" baseline="25641" sz="1950" spc="225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Mission</a:t>
                      </a:r>
                      <a:r>
                        <a:rPr dirty="0" sz="2000" spc="-35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Black</a:t>
                      </a:r>
                      <a:r>
                        <a:rPr dirty="0" sz="2000" spc="-2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Ops</a:t>
                      </a:r>
                      <a:r>
                        <a:rPr dirty="0" sz="2000" spc="-3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Bottles</a:t>
                      </a:r>
                      <a:r>
                        <a:rPr dirty="0" sz="2000" spc="-25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Count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800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algn="ctr" marR="5016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000" spc="-10">
                          <a:latin typeface="Carlito"/>
                          <a:cs typeface="Carlito"/>
                        </a:rPr>
                        <a:t>Elnattar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0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84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000" spc="-10">
                          <a:latin typeface="Carlito"/>
                          <a:cs typeface="Carlito"/>
                        </a:rPr>
                        <a:t>Mulcahy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16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algn="ctr" marR="5080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000" spc="-10">
                          <a:latin typeface="Carlito"/>
                          <a:cs typeface="Carlito"/>
                        </a:rPr>
                        <a:t>Stevens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0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13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000" spc="-10">
                          <a:latin typeface="Carlito"/>
                          <a:cs typeface="Carlito"/>
                        </a:rPr>
                        <a:t>Shanahan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13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10">
                          <a:latin typeface="Carlito"/>
                          <a:cs typeface="Carlito"/>
                        </a:rPr>
                        <a:t>Taylor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13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algn="ctr" marR="4953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000" spc="-10">
                          <a:latin typeface="Carlito"/>
                          <a:cs typeface="Carlito"/>
                        </a:rPr>
                        <a:t>Pearmund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0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12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10">
                          <a:latin typeface="Carlito"/>
                          <a:cs typeface="Carlito"/>
                        </a:rPr>
                        <a:t>Shifflett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0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12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10">
                          <a:latin typeface="Carlito"/>
                          <a:cs typeface="Carlito"/>
                        </a:rPr>
                        <a:t>Sellersmartine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12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10">
                          <a:latin typeface="Carlito"/>
                          <a:cs typeface="Carlito"/>
                        </a:rPr>
                        <a:t>Vaughn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12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10">
                          <a:latin typeface="Carlito"/>
                          <a:cs typeface="Carlito"/>
                        </a:rPr>
                        <a:t>Schmidt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0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10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55282" y="1302130"/>
          <a:ext cx="5859145" cy="4585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0080"/>
                <a:gridCol w="3860165"/>
              </a:tblGrid>
              <a:tr h="450850">
                <a:tc>
                  <a:txBody>
                    <a:bodyPr/>
                    <a:lstStyle/>
                    <a:p>
                      <a:pPr algn="ctr" marR="4889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Last</a:t>
                      </a:r>
                      <a:r>
                        <a:rPr dirty="0" sz="2000" spc="-55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2000" spc="-2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Name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571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Chardonnay</a:t>
                      </a:r>
                      <a:r>
                        <a:rPr dirty="0" sz="2000" spc="-7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Bottles</a:t>
                      </a:r>
                      <a:r>
                        <a:rPr dirty="0" sz="2000" spc="-85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Count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571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000" spc="-10">
                          <a:latin typeface="Carlito"/>
                          <a:cs typeface="Carlito"/>
                        </a:rPr>
                        <a:t>Kessler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48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000" spc="-10">
                          <a:latin typeface="Carlito"/>
                          <a:cs typeface="Carlito"/>
                        </a:rPr>
                        <a:t>Stewart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40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000" spc="-10">
                          <a:latin typeface="Carlito"/>
                          <a:cs typeface="Carlito"/>
                        </a:rPr>
                        <a:t>Kirkman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30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000" spc="-20">
                          <a:latin typeface="Carlito"/>
                          <a:cs typeface="Carlito"/>
                        </a:rPr>
                        <a:t>Webb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29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000" spc="-10">
                          <a:latin typeface="Carlito"/>
                          <a:cs typeface="Carlito"/>
                        </a:rPr>
                        <a:t>Shifflett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18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000" spc="-10">
                          <a:latin typeface="Carlito"/>
                          <a:cs typeface="Carlito"/>
                        </a:rPr>
                        <a:t>Mumbach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14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2000" spc="-20">
                          <a:latin typeface="Carlito"/>
                          <a:cs typeface="Carlito"/>
                        </a:rPr>
                        <a:t>Cain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14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000" spc="-10">
                          <a:latin typeface="Carlito"/>
                          <a:cs typeface="Carlito"/>
                        </a:rPr>
                        <a:t>Kantor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13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2000" spc="-10">
                          <a:latin typeface="Carlito"/>
                          <a:cs typeface="Carlito"/>
                        </a:rPr>
                        <a:t>Fenwick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69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12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69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2000" spc="-10">
                          <a:latin typeface="Carlito"/>
                          <a:cs typeface="Carlito"/>
                        </a:rPr>
                        <a:t>Kessler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69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2000" spc="-25">
                          <a:latin typeface="Carlito"/>
                          <a:cs typeface="Carlito"/>
                        </a:rPr>
                        <a:t>48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B="0" marT="469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65451" y="5874816"/>
            <a:ext cx="1689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rlito"/>
                <a:cs typeface="Carlito"/>
              </a:rPr>
              <a:t>Pearmund</a:t>
            </a:r>
            <a:r>
              <a:rPr dirty="0" sz="1800" spc="-40" b="1">
                <a:latin typeface="Carlito"/>
                <a:cs typeface="Carlito"/>
              </a:rPr>
              <a:t> </a:t>
            </a:r>
            <a:r>
              <a:rPr dirty="0" sz="1800" spc="-10" b="1">
                <a:latin typeface="Carlito"/>
                <a:cs typeface="Carlito"/>
              </a:rPr>
              <a:t>Cellars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649718" y="5876340"/>
            <a:ext cx="1675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rlito"/>
                <a:cs typeface="Carlito"/>
              </a:rPr>
              <a:t>Effingham</a:t>
            </a:r>
            <a:r>
              <a:rPr dirty="0" sz="1800" spc="-95" b="1">
                <a:latin typeface="Carlito"/>
                <a:cs typeface="Carlito"/>
              </a:rPr>
              <a:t> </a:t>
            </a:r>
            <a:r>
              <a:rPr dirty="0" sz="1800" spc="-10" b="1">
                <a:latin typeface="Carlito"/>
                <a:cs typeface="Carlito"/>
              </a:rPr>
              <a:t>Manor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7956" y="411556"/>
            <a:ext cx="73437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00000"/>
                </a:solidFill>
              </a:rPr>
              <a:t>Which</a:t>
            </a:r>
            <a:r>
              <a:rPr dirty="0" sz="2800" spc="-60">
                <a:solidFill>
                  <a:srgbClr val="000000"/>
                </a:solidFill>
              </a:rPr>
              <a:t> </a:t>
            </a:r>
            <a:r>
              <a:rPr dirty="0" sz="2800">
                <a:solidFill>
                  <a:srgbClr val="000000"/>
                </a:solidFill>
              </a:rPr>
              <a:t>individuals</a:t>
            </a:r>
            <a:r>
              <a:rPr dirty="0" sz="2800" spc="-60">
                <a:solidFill>
                  <a:srgbClr val="000000"/>
                </a:solidFill>
              </a:rPr>
              <a:t> </a:t>
            </a:r>
            <a:r>
              <a:rPr dirty="0" sz="2800">
                <a:solidFill>
                  <a:srgbClr val="000000"/>
                </a:solidFill>
              </a:rPr>
              <a:t>made</a:t>
            </a:r>
            <a:r>
              <a:rPr dirty="0" sz="2800" spc="-65">
                <a:solidFill>
                  <a:srgbClr val="000000"/>
                </a:solidFill>
              </a:rPr>
              <a:t> </a:t>
            </a:r>
            <a:r>
              <a:rPr dirty="0" sz="2800">
                <a:solidFill>
                  <a:srgbClr val="000000"/>
                </a:solidFill>
              </a:rPr>
              <a:t>the</a:t>
            </a:r>
            <a:r>
              <a:rPr dirty="0" sz="2800" spc="-70">
                <a:solidFill>
                  <a:srgbClr val="000000"/>
                </a:solidFill>
              </a:rPr>
              <a:t> </a:t>
            </a:r>
            <a:r>
              <a:rPr dirty="0" sz="2800">
                <a:solidFill>
                  <a:srgbClr val="000000"/>
                </a:solidFill>
              </a:rPr>
              <a:t>highest</a:t>
            </a:r>
            <a:r>
              <a:rPr dirty="0" sz="2800" spc="-50">
                <a:solidFill>
                  <a:srgbClr val="000000"/>
                </a:solidFill>
              </a:rPr>
              <a:t> </a:t>
            </a:r>
            <a:r>
              <a:rPr dirty="0" sz="2800" spc="-10">
                <a:solidFill>
                  <a:srgbClr val="000000"/>
                </a:solidFill>
              </a:rPr>
              <a:t>transactions?</a:t>
            </a:r>
            <a:endParaRPr sz="2800"/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432561" y="1346961"/>
          <a:ext cx="5572125" cy="43554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4145"/>
                <a:gridCol w="2799080"/>
              </a:tblGrid>
              <a:tr h="415290">
                <a:tc>
                  <a:txBody>
                    <a:bodyPr/>
                    <a:lstStyle/>
                    <a:p>
                      <a:pPr algn="ctr" marR="4445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Last</a:t>
                      </a:r>
                      <a:r>
                        <a:rPr dirty="0" sz="1800" spc="-4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Name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  <a:tc>
                  <a:txBody>
                    <a:bodyPr/>
                    <a:lstStyle/>
                    <a:p>
                      <a:pPr marL="70802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Total</a:t>
                      </a:r>
                      <a:r>
                        <a:rPr dirty="0" sz="1800" spc="-6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Revenue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Looney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marL="909319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6,402.17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Paradis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marL="909319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4,829.42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Crooks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marL="909319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4,817.60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Kessler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marL="909319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3,693.93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Smith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marL="909319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3,410.25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Stewart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marL="909319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3,151.87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 spc="-20">
                          <a:latin typeface="Carlito"/>
                          <a:cs typeface="Carlito"/>
                        </a:rPr>
                        <a:t>Webb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marL="909319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3,097.21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Henderson/Marshall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marL="909319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3,032.64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Wilkey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88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marL="909319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2,764.99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88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Pickett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marL="909319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2,757.61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11582400" y="3047"/>
            <a:ext cx="609600" cy="204470"/>
          </a:xfrm>
          <a:prstGeom prst="rect">
            <a:avLst/>
          </a:prstGeom>
          <a:ln w="15875">
            <a:solidFill>
              <a:srgbClr val="13234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635">
              <a:lnSpc>
                <a:spcPts val="1555"/>
              </a:lnSpc>
            </a:pPr>
            <a:r>
              <a:rPr dirty="0" sz="1400" spc="-25" b="1">
                <a:latin typeface="Carlito"/>
                <a:cs typeface="Carlito"/>
              </a:rPr>
              <a:t>24</a:t>
            </a:r>
            <a:endParaRPr sz="1400">
              <a:latin typeface="Carlito"/>
              <a:cs typeface="Carlito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6258940" y="1349375"/>
          <a:ext cx="5572125" cy="43554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4145"/>
                <a:gridCol w="2799080"/>
              </a:tblGrid>
              <a:tr h="415290">
                <a:tc>
                  <a:txBody>
                    <a:bodyPr/>
                    <a:lstStyle/>
                    <a:p>
                      <a:pPr algn="ctr" marR="4318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Last</a:t>
                      </a:r>
                      <a:r>
                        <a:rPr dirty="0" sz="1800" spc="-4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Name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  <a:tc>
                  <a:txBody>
                    <a:bodyPr/>
                    <a:lstStyle/>
                    <a:p>
                      <a:pPr marL="70866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Total</a:t>
                      </a:r>
                      <a:r>
                        <a:rPr dirty="0" sz="1800" spc="-6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Revenue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A5FB0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Gyles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marL="8845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4,630.65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Triplett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marL="9683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4,165.8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Segal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marL="8845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3,972.05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Mello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marL="9105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3,621.38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Morrow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marL="8845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3,548.35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Hawkins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marL="9105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3,324.38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Beber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marL="9105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3,197.22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Cloran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marL="8845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2,691.45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Schmidt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  <a:tc>
                  <a:txBody>
                    <a:bodyPr/>
                    <a:lstStyle/>
                    <a:p>
                      <a:pPr marL="91059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2,599.01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EF0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800" spc="-10">
                          <a:latin typeface="Carlito"/>
                          <a:cs typeface="Carlito"/>
                        </a:rPr>
                        <a:t>Smith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  <a:tc>
                  <a:txBody>
                    <a:bodyPr/>
                    <a:lstStyle/>
                    <a:p>
                      <a:pPr marL="91059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800">
                          <a:latin typeface="Carlito"/>
                          <a:cs typeface="Carlito"/>
                        </a:rPr>
                        <a:t>$</a:t>
                      </a:r>
                      <a:r>
                        <a:rPr dirty="0" sz="1800" spc="409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-10">
                          <a:latin typeface="Carlito"/>
                          <a:cs typeface="Carlito"/>
                        </a:rPr>
                        <a:t>2,487.71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CBD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900" y="1438529"/>
            <a:ext cx="5224145" cy="2220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6000" spc="-60"/>
              <a:t>VISUALIZATIONS </a:t>
            </a:r>
            <a:r>
              <a:rPr dirty="0" sz="6000"/>
              <a:t>AND</a:t>
            </a:r>
            <a:r>
              <a:rPr dirty="0" sz="6000" spc="-130"/>
              <a:t> </a:t>
            </a:r>
            <a:r>
              <a:rPr dirty="0" sz="6000" spc="65"/>
              <a:t>ANA</a:t>
            </a:r>
            <a:r>
              <a:rPr dirty="0" sz="6000" spc="-465"/>
              <a:t>L</a:t>
            </a:r>
            <a:r>
              <a:rPr dirty="0" sz="6000" spc="-20"/>
              <a:t>Y</a:t>
            </a:r>
            <a:r>
              <a:rPr dirty="0" sz="6000" spc="65"/>
              <a:t>SIS</a:t>
            </a:r>
            <a:endParaRPr sz="6000"/>
          </a:p>
        </p:txBody>
      </p:sp>
      <p:grpSp>
        <p:nvGrpSpPr>
          <p:cNvPr id="4" name="object 4" descr=""/>
          <p:cNvGrpSpPr/>
          <p:nvPr/>
        </p:nvGrpSpPr>
        <p:grpSpPr>
          <a:xfrm>
            <a:off x="6838188" y="-7937"/>
            <a:ext cx="5361940" cy="6866255"/>
            <a:chOff x="6838188" y="-7937"/>
            <a:chExt cx="5361940" cy="686625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8188" y="0"/>
              <a:ext cx="5352288" cy="685799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1582400" y="0"/>
              <a:ext cx="609600" cy="204470"/>
            </a:xfrm>
            <a:custGeom>
              <a:avLst/>
              <a:gdLst/>
              <a:ahLst/>
              <a:cxnLst/>
              <a:rect l="l" t="t" r="r" b="b"/>
              <a:pathLst>
                <a:path w="609600" h="204470">
                  <a:moveTo>
                    <a:pt x="609600" y="0"/>
                  </a:moveTo>
                  <a:lnTo>
                    <a:pt x="0" y="0"/>
                  </a:lnTo>
                  <a:lnTo>
                    <a:pt x="0" y="204216"/>
                  </a:lnTo>
                  <a:lnTo>
                    <a:pt x="609600" y="204216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1582400" y="0"/>
              <a:ext cx="609600" cy="204470"/>
            </a:xfrm>
            <a:custGeom>
              <a:avLst/>
              <a:gdLst/>
              <a:ahLst/>
              <a:cxnLst/>
              <a:rect l="l" t="t" r="r" b="b"/>
              <a:pathLst>
                <a:path w="609600" h="204470">
                  <a:moveTo>
                    <a:pt x="0" y="204216"/>
                  </a:moveTo>
                  <a:lnTo>
                    <a:pt x="609600" y="204216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204216"/>
                  </a:lnTo>
                  <a:close/>
                </a:path>
              </a:pathLst>
            </a:custGeom>
            <a:ln w="15874">
              <a:solidFill>
                <a:srgbClr val="1323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1785218" y="-29464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latin typeface="Carlito"/>
                <a:cs typeface="Carlito"/>
              </a:rPr>
              <a:t>25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7937"/>
            <a:ext cx="12200255" cy="6859905"/>
            <a:chOff x="0" y="-7937"/>
            <a:chExt cx="12200255" cy="685990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6" cy="6851901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1582400" y="0"/>
              <a:ext cx="609600" cy="204470"/>
            </a:xfrm>
            <a:custGeom>
              <a:avLst/>
              <a:gdLst/>
              <a:ahLst/>
              <a:cxnLst/>
              <a:rect l="l" t="t" r="r" b="b"/>
              <a:pathLst>
                <a:path w="609600" h="204470">
                  <a:moveTo>
                    <a:pt x="0" y="204216"/>
                  </a:moveTo>
                  <a:lnTo>
                    <a:pt x="609600" y="204216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204216"/>
                  </a:lnTo>
                  <a:close/>
                </a:path>
              </a:pathLst>
            </a:custGeom>
            <a:ln w="15874">
              <a:solidFill>
                <a:srgbClr val="1323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1785218" y="-29464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latin typeface="Carlito"/>
                <a:cs typeface="Carlito"/>
              </a:rPr>
              <a:t>26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4889"/>
            <a:ext cx="12200255" cy="6861809"/>
            <a:chOff x="0" y="-4889"/>
            <a:chExt cx="12200255" cy="6861809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647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1582400" y="3048"/>
              <a:ext cx="609600" cy="204470"/>
            </a:xfrm>
            <a:custGeom>
              <a:avLst/>
              <a:gdLst/>
              <a:ahLst/>
              <a:cxnLst/>
              <a:rect l="l" t="t" r="r" b="b"/>
              <a:pathLst>
                <a:path w="609600" h="204470">
                  <a:moveTo>
                    <a:pt x="0" y="204216"/>
                  </a:moveTo>
                  <a:lnTo>
                    <a:pt x="609600" y="204216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204216"/>
                  </a:lnTo>
                  <a:close/>
                </a:path>
              </a:pathLst>
            </a:custGeom>
            <a:ln w="15874">
              <a:solidFill>
                <a:srgbClr val="1323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1785218" y="-26162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latin typeface="Carlito"/>
                <a:cs typeface="Carlito"/>
              </a:rPr>
              <a:t>27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7937"/>
            <a:ext cx="12200255" cy="6866255"/>
            <a:chOff x="0" y="-7937"/>
            <a:chExt cx="12200255" cy="68662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1582400" y="0"/>
              <a:ext cx="609600" cy="204470"/>
            </a:xfrm>
            <a:custGeom>
              <a:avLst/>
              <a:gdLst/>
              <a:ahLst/>
              <a:cxnLst/>
              <a:rect l="l" t="t" r="r" b="b"/>
              <a:pathLst>
                <a:path w="609600" h="204470">
                  <a:moveTo>
                    <a:pt x="0" y="204216"/>
                  </a:moveTo>
                  <a:lnTo>
                    <a:pt x="609600" y="204216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204216"/>
                  </a:lnTo>
                  <a:close/>
                </a:path>
              </a:pathLst>
            </a:custGeom>
            <a:ln w="15874">
              <a:solidFill>
                <a:srgbClr val="1323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1785218" y="-29464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latin typeface="Carlito"/>
                <a:cs typeface="Carlito"/>
              </a:rPr>
              <a:t>28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7937"/>
            <a:ext cx="12200255" cy="6856095"/>
            <a:chOff x="0" y="-7937"/>
            <a:chExt cx="12200255" cy="68560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47947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1582400" y="0"/>
              <a:ext cx="609600" cy="204470"/>
            </a:xfrm>
            <a:custGeom>
              <a:avLst/>
              <a:gdLst/>
              <a:ahLst/>
              <a:cxnLst/>
              <a:rect l="l" t="t" r="r" b="b"/>
              <a:pathLst>
                <a:path w="609600" h="204470">
                  <a:moveTo>
                    <a:pt x="0" y="204216"/>
                  </a:moveTo>
                  <a:lnTo>
                    <a:pt x="609600" y="204216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204216"/>
                  </a:lnTo>
                  <a:close/>
                </a:path>
              </a:pathLst>
            </a:custGeom>
            <a:ln w="15874">
              <a:solidFill>
                <a:srgbClr val="1323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1785218" y="-29464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latin typeface="Carlito"/>
                <a:cs typeface="Carlito"/>
              </a:rPr>
              <a:t>29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57425"/>
            <a:ext cx="12159868" cy="609904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582400" y="0"/>
            <a:ext cx="609600" cy="204470"/>
          </a:xfrm>
          <a:prstGeom prst="rect">
            <a:avLst/>
          </a:prstGeom>
          <a:ln w="15875">
            <a:solidFill>
              <a:srgbClr val="13234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635">
              <a:lnSpc>
                <a:spcPts val="1550"/>
              </a:lnSpc>
            </a:pPr>
            <a:r>
              <a:rPr dirty="0" sz="1400" spc="-25" b="1">
                <a:latin typeface="Carlito"/>
                <a:cs typeface="Carlito"/>
              </a:rPr>
              <a:t>30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9707" y="205232"/>
            <a:ext cx="84194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00"/>
                </a:solidFill>
              </a:rPr>
              <a:t>Most</a:t>
            </a:r>
            <a:r>
              <a:rPr dirty="0" sz="2400" spc="-6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number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of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reservations</a:t>
            </a:r>
            <a:r>
              <a:rPr dirty="0" sz="2400" spc="-7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made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for</a:t>
            </a:r>
            <a:r>
              <a:rPr dirty="0" sz="2400" spc="-6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events</a:t>
            </a:r>
            <a:r>
              <a:rPr dirty="0" sz="2400" spc="-4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at</a:t>
            </a:r>
            <a:r>
              <a:rPr dirty="0" sz="2400" spc="-6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Effingham</a:t>
            </a:r>
            <a:r>
              <a:rPr dirty="0" sz="2400" spc="-5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Manor</a:t>
            </a:r>
            <a:endParaRPr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82624" y="6525996"/>
            <a:ext cx="58419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spc="-50">
                <a:latin typeface="Carlito"/>
                <a:cs typeface="Carlito"/>
              </a:rPr>
              <a:t>1</a:t>
            </a:r>
            <a:endParaRPr sz="900">
              <a:latin typeface="Carlito"/>
              <a:cs typeface="Carlito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582400" y="0"/>
            <a:ext cx="609600" cy="204470"/>
          </a:xfrm>
          <a:prstGeom prst="rect">
            <a:avLst/>
          </a:prstGeom>
          <a:ln w="15875">
            <a:solidFill>
              <a:srgbClr val="13234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635">
              <a:lnSpc>
                <a:spcPts val="1550"/>
              </a:lnSpc>
            </a:pPr>
            <a:r>
              <a:rPr dirty="0" sz="1400" spc="-25" b="1">
                <a:latin typeface="Carlito"/>
                <a:cs typeface="Carlito"/>
              </a:rPr>
              <a:t>31</a:t>
            </a:r>
            <a:endParaRPr sz="1400">
              <a:latin typeface="Carlito"/>
              <a:cs typeface="Carlit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" y="733042"/>
            <a:ext cx="11582399" cy="612495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2107" y="216534"/>
            <a:ext cx="844105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00"/>
                </a:solidFill>
              </a:rPr>
              <a:t>Most</a:t>
            </a:r>
            <a:r>
              <a:rPr dirty="0" sz="2400" spc="-6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number</a:t>
            </a:r>
            <a:r>
              <a:rPr dirty="0" sz="2400" spc="-6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of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reservations</a:t>
            </a:r>
            <a:r>
              <a:rPr dirty="0" sz="2400" spc="-7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made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for</a:t>
            </a:r>
            <a:r>
              <a:rPr dirty="0" sz="2400" spc="-7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events</a:t>
            </a:r>
            <a:r>
              <a:rPr dirty="0" sz="2400" spc="-4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at</a:t>
            </a:r>
            <a:r>
              <a:rPr dirty="0" sz="2400" spc="-4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Pearmund</a:t>
            </a:r>
            <a:r>
              <a:rPr dirty="0" sz="2400" spc="-6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Cellars</a:t>
            </a:r>
            <a:endParaRPr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20902" y="-7937"/>
            <a:ext cx="11679555" cy="6751320"/>
            <a:chOff x="520902" y="-7937"/>
            <a:chExt cx="11679555" cy="67513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902" y="204214"/>
              <a:ext cx="11241329" cy="653858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1582399" y="0"/>
              <a:ext cx="609600" cy="204470"/>
            </a:xfrm>
            <a:custGeom>
              <a:avLst/>
              <a:gdLst/>
              <a:ahLst/>
              <a:cxnLst/>
              <a:rect l="l" t="t" r="r" b="b"/>
              <a:pathLst>
                <a:path w="609600" h="204470">
                  <a:moveTo>
                    <a:pt x="0" y="204216"/>
                  </a:moveTo>
                  <a:lnTo>
                    <a:pt x="609600" y="204216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204216"/>
                  </a:lnTo>
                  <a:close/>
                </a:path>
              </a:pathLst>
            </a:custGeom>
            <a:ln w="15874">
              <a:solidFill>
                <a:srgbClr val="1323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1785218" y="-29464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latin typeface="Carlito"/>
                <a:cs typeface="Carlito"/>
              </a:rPr>
              <a:t>33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9461"/>
            <a:ext cx="12200255" cy="6755130"/>
            <a:chOff x="0" y="-9461"/>
            <a:chExt cx="12200255" cy="675513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745221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1582400" y="-1524"/>
              <a:ext cx="609600" cy="204470"/>
            </a:xfrm>
            <a:custGeom>
              <a:avLst/>
              <a:gdLst/>
              <a:ahLst/>
              <a:cxnLst/>
              <a:rect l="l" t="t" r="r" b="b"/>
              <a:pathLst>
                <a:path w="609600" h="204470">
                  <a:moveTo>
                    <a:pt x="0" y="204216"/>
                  </a:moveTo>
                  <a:lnTo>
                    <a:pt x="609600" y="204216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204216"/>
                  </a:lnTo>
                  <a:close/>
                </a:path>
              </a:pathLst>
            </a:custGeom>
            <a:ln w="15874">
              <a:solidFill>
                <a:srgbClr val="1323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1785218" y="-31241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latin typeface="Carlito"/>
                <a:cs typeface="Carlito"/>
              </a:rPr>
              <a:t>32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6151" rIns="0" bIns="0" rtlCol="0" vert="horz">
            <a:spAutoFit/>
          </a:bodyPr>
          <a:lstStyle/>
          <a:p>
            <a:pPr marL="47117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000000"/>
                </a:solidFill>
              </a:rPr>
              <a:t>FINDINGS</a:t>
            </a:r>
            <a:r>
              <a:rPr dirty="0" sz="4000" spc="-125">
                <a:solidFill>
                  <a:srgbClr val="000000"/>
                </a:solidFill>
              </a:rPr>
              <a:t> </a:t>
            </a:r>
            <a:r>
              <a:rPr dirty="0" sz="4000">
                <a:solidFill>
                  <a:srgbClr val="000000"/>
                </a:solidFill>
              </a:rPr>
              <a:t>AND</a:t>
            </a:r>
            <a:r>
              <a:rPr dirty="0" sz="4000" spc="-120">
                <a:solidFill>
                  <a:srgbClr val="000000"/>
                </a:solidFill>
              </a:rPr>
              <a:t> </a:t>
            </a:r>
            <a:r>
              <a:rPr dirty="0" sz="4000" spc="-10">
                <a:solidFill>
                  <a:srgbClr val="000000"/>
                </a:solidFill>
              </a:rPr>
              <a:t>DECISIONS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58825" y="1616201"/>
            <a:ext cx="9635490" cy="26054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300">
                <a:latin typeface="Carlito"/>
                <a:cs typeface="Carlito"/>
              </a:rPr>
              <a:t>PaaS</a:t>
            </a:r>
            <a:r>
              <a:rPr dirty="0" sz="2300" spc="-60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is</a:t>
            </a:r>
            <a:r>
              <a:rPr dirty="0" sz="2300" spc="-50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slightly</a:t>
            </a:r>
            <a:r>
              <a:rPr dirty="0" sz="2300" spc="-50">
                <a:latin typeface="Carlito"/>
                <a:cs typeface="Carlito"/>
              </a:rPr>
              <a:t> </a:t>
            </a:r>
            <a:r>
              <a:rPr dirty="0" sz="2300" spc="-10">
                <a:latin typeface="Carlito"/>
                <a:cs typeface="Carlito"/>
              </a:rPr>
              <a:t>faster</a:t>
            </a:r>
            <a:r>
              <a:rPr dirty="0" sz="2300" spc="-50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than</a:t>
            </a:r>
            <a:r>
              <a:rPr dirty="0" sz="2300" spc="-50">
                <a:latin typeface="Carlito"/>
                <a:cs typeface="Carlito"/>
              </a:rPr>
              <a:t> </a:t>
            </a:r>
            <a:r>
              <a:rPr dirty="0" sz="2300" spc="-20">
                <a:latin typeface="Carlito"/>
                <a:cs typeface="Carlito"/>
              </a:rPr>
              <a:t>SaaS</a:t>
            </a:r>
            <a:endParaRPr sz="2300">
              <a:latin typeface="Carlito"/>
              <a:cs typeface="Carlito"/>
            </a:endParaRPr>
          </a:p>
          <a:p>
            <a:pPr marL="240665" indent="-227965">
              <a:lnSpc>
                <a:spcPct val="100000"/>
              </a:lnSpc>
              <a:spcBef>
                <a:spcPts val="207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300">
                <a:latin typeface="Carlito"/>
                <a:cs typeface="Carlito"/>
              </a:rPr>
              <a:t>PaaS</a:t>
            </a:r>
            <a:r>
              <a:rPr dirty="0" sz="2300" spc="-55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is</a:t>
            </a:r>
            <a:r>
              <a:rPr dirty="0" sz="2300" spc="-50">
                <a:latin typeface="Carlito"/>
                <a:cs typeface="Carlito"/>
              </a:rPr>
              <a:t> </a:t>
            </a:r>
            <a:r>
              <a:rPr dirty="0" sz="2300" spc="-25">
                <a:latin typeface="Carlito"/>
                <a:cs typeface="Carlito"/>
              </a:rPr>
              <a:t>cost-</a:t>
            </a:r>
            <a:r>
              <a:rPr dirty="0" sz="2300" spc="-10">
                <a:latin typeface="Carlito"/>
                <a:cs typeface="Carlito"/>
              </a:rPr>
              <a:t>effective</a:t>
            </a:r>
            <a:r>
              <a:rPr dirty="0" sz="2300" spc="-55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like</a:t>
            </a:r>
            <a:r>
              <a:rPr dirty="0" sz="2300" spc="-40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SaaS</a:t>
            </a:r>
            <a:r>
              <a:rPr dirty="0" sz="2300" spc="-55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but</a:t>
            </a:r>
            <a:r>
              <a:rPr dirty="0" sz="2300" spc="-50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overall</a:t>
            </a:r>
            <a:r>
              <a:rPr dirty="0" sz="2300" spc="-65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is</a:t>
            </a:r>
            <a:r>
              <a:rPr dirty="0" sz="2300" spc="-50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a</a:t>
            </a:r>
            <a:r>
              <a:rPr dirty="0" sz="2300" spc="-55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cheaper</a:t>
            </a:r>
            <a:r>
              <a:rPr dirty="0" sz="2300" spc="-50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option</a:t>
            </a:r>
            <a:r>
              <a:rPr dirty="0" sz="2300" spc="-35">
                <a:latin typeface="Carlito"/>
                <a:cs typeface="Carlito"/>
              </a:rPr>
              <a:t> </a:t>
            </a:r>
            <a:r>
              <a:rPr dirty="0" sz="2300" spc="-10">
                <a:latin typeface="Carlito"/>
                <a:cs typeface="Carlito"/>
              </a:rPr>
              <a:t>offering</a:t>
            </a:r>
            <a:r>
              <a:rPr dirty="0" sz="2300" spc="-50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the</a:t>
            </a:r>
            <a:r>
              <a:rPr dirty="0" sz="2300" spc="-40">
                <a:latin typeface="Carlito"/>
                <a:cs typeface="Carlito"/>
              </a:rPr>
              <a:t> </a:t>
            </a:r>
            <a:r>
              <a:rPr dirty="0" sz="2300" spc="-20">
                <a:latin typeface="Carlito"/>
                <a:cs typeface="Carlito"/>
              </a:rPr>
              <a:t>same</a:t>
            </a:r>
            <a:endParaRPr sz="2300">
              <a:latin typeface="Carlito"/>
              <a:cs typeface="Carlito"/>
            </a:endParaRPr>
          </a:p>
          <a:p>
            <a:pPr marL="241300">
              <a:lnSpc>
                <a:spcPct val="100000"/>
              </a:lnSpc>
              <a:spcBef>
                <a:spcPts val="275"/>
              </a:spcBef>
            </a:pPr>
            <a:r>
              <a:rPr dirty="0" sz="2300" spc="-10">
                <a:latin typeface="Carlito"/>
                <a:cs typeface="Carlito"/>
              </a:rPr>
              <a:t>quality</a:t>
            </a:r>
            <a:endParaRPr sz="2300">
              <a:latin typeface="Carlito"/>
              <a:cs typeface="Carlito"/>
            </a:endParaRPr>
          </a:p>
          <a:p>
            <a:pPr marL="240665" indent="-227965">
              <a:lnSpc>
                <a:spcPct val="100000"/>
              </a:lnSpc>
              <a:spcBef>
                <a:spcPts val="208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300">
                <a:latin typeface="Carlito"/>
                <a:cs typeface="Carlito"/>
              </a:rPr>
              <a:t>PaaS</a:t>
            </a:r>
            <a:r>
              <a:rPr dirty="0" sz="2300" spc="-55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is</a:t>
            </a:r>
            <a:r>
              <a:rPr dirty="0" sz="2300" spc="-45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better</a:t>
            </a:r>
            <a:r>
              <a:rPr dirty="0" sz="2300" spc="-40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for</a:t>
            </a:r>
            <a:r>
              <a:rPr dirty="0" sz="2300" spc="-55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the</a:t>
            </a:r>
            <a:r>
              <a:rPr dirty="0" sz="2300" spc="-35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smaller</a:t>
            </a:r>
            <a:r>
              <a:rPr dirty="0" sz="2300" spc="-50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datasets</a:t>
            </a:r>
            <a:r>
              <a:rPr dirty="0" sz="2300" spc="-45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of</a:t>
            </a:r>
            <a:r>
              <a:rPr dirty="0" sz="2300" spc="-45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the</a:t>
            </a:r>
            <a:r>
              <a:rPr dirty="0" sz="2300" spc="-40">
                <a:latin typeface="Carlito"/>
                <a:cs typeface="Carlito"/>
              </a:rPr>
              <a:t> </a:t>
            </a:r>
            <a:r>
              <a:rPr dirty="0" sz="2300" spc="-10">
                <a:latin typeface="Carlito"/>
                <a:cs typeface="Carlito"/>
              </a:rPr>
              <a:t>wineries</a:t>
            </a:r>
            <a:endParaRPr sz="2300">
              <a:latin typeface="Carlito"/>
              <a:cs typeface="Carlito"/>
            </a:endParaRPr>
          </a:p>
          <a:p>
            <a:pPr marL="240665" indent="-227965">
              <a:lnSpc>
                <a:spcPct val="100000"/>
              </a:lnSpc>
              <a:spcBef>
                <a:spcPts val="207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300">
                <a:latin typeface="Carlito"/>
                <a:cs typeface="Carlito"/>
              </a:rPr>
              <a:t>PaaS</a:t>
            </a:r>
            <a:r>
              <a:rPr dirty="0" sz="2300" spc="-40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is</a:t>
            </a:r>
            <a:r>
              <a:rPr dirty="0" sz="2300" spc="-30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the</a:t>
            </a:r>
            <a:r>
              <a:rPr dirty="0" sz="2300" spc="-15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best</a:t>
            </a:r>
            <a:r>
              <a:rPr dirty="0" sz="2300" spc="-35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viable</a:t>
            </a:r>
            <a:r>
              <a:rPr dirty="0" sz="2300" spc="-45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solution</a:t>
            </a:r>
            <a:r>
              <a:rPr dirty="0" sz="2300" spc="-30">
                <a:latin typeface="Carlito"/>
                <a:cs typeface="Carlito"/>
              </a:rPr>
              <a:t> </a:t>
            </a:r>
            <a:r>
              <a:rPr dirty="0" sz="2300">
                <a:latin typeface="Carlito"/>
                <a:cs typeface="Carlito"/>
              </a:rPr>
              <a:t>going</a:t>
            </a:r>
            <a:r>
              <a:rPr dirty="0" sz="2300" spc="-20">
                <a:latin typeface="Carlito"/>
                <a:cs typeface="Carlito"/>
              </a:rPr>
              <a:t> </a:t>
            </a:r>
            <a:r>
              <a:rPr dirty="0" sz="2300" spc="-10">
                <a:latin typeface="Carlito"/>
                <a:cs typeface="Carlito"/>
              </a:rPr>
              <a:t>forward</a:t>
            </a:r>
            <a:endParaRPr sz="2300">
              <a:latin typeface="Carlito"/>
              <a:cs typeface="Carlit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0743" y="3571148"/>
            <a:ext cx="4290227" cy="316719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582400" y="0"/>
            <a:ext cx="609600" cy="204470"/>
          </a:xfrm>
          <a:prstGeom prst="rect">
            <a:avLst/>
          </a:prstGeom>
          <a:ln w="15875">
            <a:solidFill>
              <a:srgbClr val="13234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635">
              <a:lnSpc>
                <a:spcPts val="1550"/>
              </a:lnSpc>
            </a:pPr>
            <a:r>
              <a:rPr dirty="0" sz="1400" spc="-25" b="1">
                <a:latin typeface="Carlito"/>
                <a:cs typeface="Carlito"/>
              </a:rPr>
              <a:t>34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1278" y="825830"/>
            <a:ext cx="232981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>
                <a:solidFill>
                  <a:srgbClr val="000000"/>
                </a:solidFill>
              </a:rPr>
              <a:t>SUMMARY</a:t>
            </a:r>
            <a:endParaRPr sz="4000"/>
          </a:p>
        </p:txBody>
      </p:sp>
      <p:sp>
        <p:nvSpPr>
          <p:cNvPr id="3" name="object 3" descr=""/>
          <p:cNvSpPr/>
          <p:nvPr/>
        </p:nvSpPr>
        <p:spPr>
          <a:xfrm>
            <a:off x="0" y="1185672"/>
            <a:ext cx="804545" cy="0"/>
          </a:xfrm>
          <a:custGeom>
            <a:avLst/>
            <a:gdLst/>
            <a:ahLst/>
            <a:cxnLst/>
            <a:rect l="l" t="t" r="r" b="b"/>
            <a:pathLst>
              <a:path w="804545" h="0">
                <a:moveTo>
                  <a:pt x="0" y="0"/>
                </a:moveTo>
                <a:lnTo>
                  <a:pt x="804189" y="0"/>
                </a:lnTo>
              </a:path>
            </a:pathLst>
          </a:custGeom>
          <a:ln w="857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83209" y="1457299"/>
            <a:ext cx="4773930" cy="5025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1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 spc="-10">
                <a:latin typeface="Carlito"/>
                <a:cs typeface="Carlito"/>
              </a:rPr>
              <a:t>Implementation</a:t>
            </a:r>
            <a:r>
              <a:rPr dirty="0" sz="2000" spc="-2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of</a:t>
            </a:r>
            <a:r>
              <a:rPr dirty="0" sz="2000" spc="-3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a</a:t>
            </a:r>
            <a:r>
              <a:rPr dirty="0" sz="2000" spc="-3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data</a:t>
            </a:r>
            <a:r>
              <a:rPr dirty="0" sz="2000" spc="-30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warehouse </a:t>
            </a:r>
            <a:r>
              <a:rPr dirty="0" sz="2000">
                <a:latin typeface="Carlito"/>
                <a:cs typeface="Carlito"/>
              </a:rPr>
              <a:t>needed</a:t>
            </a:r>
            <a:r>
              <a:rPr dirty="0" sz="2000" spc="-4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to</a:t>
            </a:r>
            <a:r>
              <a:rPr dirty="0" sz="2000" spc="-4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be</a:t>
            </a:r>
            <a:r>
              <a:rPr dirty="0" sz="2000" spc="-5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done</a:t>
            </a:r>
            <a:r>
              <a:rPr dirty="0" sz="2000" spc="-6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following</a:t>
            </a:r>
            <a:r>
              <a:rPr dirty="0" sz="2000" spc="-5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last</a:t>
            </a:r>
            <a:r>
              <a:rPr dirty="0" sz="2000" spc="-30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Semester</a:t>
            </a:r>
            <a:endParaRPr sz="2000">
              <a:latin typeface="Carlito"/>
              <a:cs typeface="Carlito"/>
            </a:endParaRPr>
          </a:p>
          <a:p>
            <a:pPr marL="355600" marR="45720" indent="-342900">
              <a:lnSpc>
                <a:spcPct val="110100"/>
              </a:lnSpc>
              <a:spcBef>
                <a:spcPts val="59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 spc="-10">
                <a:latin typeface="Carlito"/>
                <a:cs typeface="Carlito"/>
              </a:rPr>
              <a:t>Two</a:t>
            </a:r>
            <a:r>
              <a:rPr dirty="0" sz="2000" spc="-65">
                <a:latin typeface="Carlito"/>
                <a:cs typeface="Carlito"/>
              </a:rPr>
              <a:t> </a:t>
            </a:r>
            <a:r>
              <a:rPr dirty="0" sz="2000" spc="-20">
                <a:latin typeface="Carlito"/>
                <a:cs typeface="Carlito"/>
              </a:rPr>
              <a:t>cost-</a:t>
            </a:r>
            <a:r>
              <a:rPr dirty="0" sz="2000" spc="-10">
                <a:latin typeface="Carlito"/>
                <a:cs typeface="Carlito"/>
              </a:rPr>
              <a:t>effective</a:t>
            </a:r>
            <a:r>
              <a:rPr dirty="0" sz="2000" spc="-3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and</a:t>
            </a:r>
            <a:r>
              <a:rPr dirty="0" sz="2000" spc="-5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easily</a:t>
            </a:r>
            <a:r>
              <a:rPr dirty="0" sz="2000" spc="-55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maintainable </a:t>
            </a:r>
            <a:r>
              <a:rPr dirty="0" sz="2000">
                <a:latin typeface="Carlito"/>
                <a:cs typeface="Carlito"/>
              </a:rPr>
              <a:t>data</a:t>
            </a:r>
            <a:r>
              <a:rPr dirty="0" sz="2000" spc="-8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warehouses</a:t>
            </a:r>
            <a:r>
              <a:rPr dirty="0" sz="2000" spc="-8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were</a:t>
            </a:r>
            <a:r>
              <a:rPr dirty="0" sz="2000" spc="-8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prototyped:</a:t>
            </a:r>
            <a:r>
              <a:rPr dirty="0" sz="2000" spc="-105">
                <a:latin typeface="Carlito"/>
                <a:cs typeface="Carlito"/>
              </a:rPr>
              <a:t> </a:t>
            </a:r>
            <a:r>
              <a:rPr dirty="0" sz="2000" spc="-20">
                <a:latin typeface="Carlito"/>
                <a:cs typeface="Carlito"/>
              </a:rPr>
              <a:t>PaaS </a:t>
            </a:r>
            <a:r>
              <a:rPr dirty="0" sz="2000">
                <a:latin typeface="Carlito"/>
                <a:cs typeface="Carlito"/>
              </a:rPr>
              <a:t>(Ec2)</a:t>
            </a:r>
            <a:r>
              <a:rPr dirty="0" sz="2000" spc="-6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and</a:t>
            </a:r>
            <a:r>
              <a:rPr dirty="0" sz="2000" spc="-5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SaaS</a:t>
            </a:r>
            <a:r>
              <a:rPr dirty="0" sz="2000" spc="-3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(Amazon</a:t>
            </a:r>
            <a:r>
              <a:rPr dirty="0" sz="2000" spc="-60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Redshift)</a:t>
            </a:r>
            <a:endParaRPr sz="2000">
              <a:latin typeface="Carlito"/>
              <a:cs typeface="Carlito"/>
            </a:endParaRPr>
          </a:p>
          <a:p>
            <a:pPr marL="355600" marR="74295" indent="-342900">
              <a:lnSpc>
                <a:spcPct val="110000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Carlito"/>
                <a:cs typeface="Carlito"/>
              </a:rPr>
              <a:t>Through</a:t>
            </a:r>
            <a:r>
              <a:rPr dirty="0" sz="2000" spc="-6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review</a:t>
            </a:r>
            <a:r>
              <a:rPr dirty="0" sz="2000" spc="-5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and</a:t>
            </a:r>
            <a:r>
              <a:rPr dirty="0" sz="2000" spc="-50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transformation</a:t>
            </a:r>
            <a:r>
              <a:rPr dirty="0" sz="2000" spc="-3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of</a:t>
            </a:r>
            <a:r>
              <a:rPr dirty="0" sz="2000" spc="-55">
                <a:latin typeface="Carlito"/>
                <a:cs typeface="Carlito"/>
              </a:rPr>
              <a:t> </a:t>
            </a:r>
            <a:r>
              <a:rPr dirty="0" sz="2000" spc="-25">
                <a:latin typeface="Carlito"/>
                <a:cs typeface="Carlito"/>
              </a:rPr>
              <a:t>the </a:t>
            </a:r>
            <a:r>
              <a:rPr dirty="0" sz="2000">
                <a:latin typeface="Carlito"/>
                <a:cs typeface="Carlito"/>
              </a:rPr>
              <a:t>data,</a:t>
            </a:r>
            <a:r>
              <a:rPr dirty="0" sz="2000" spc="-5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the</a:t>
            </a:r>
            <a:r>
              <a:rPr dirty="0" sz="2000" spc="-5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need</a:t>
            </a:r>
            <a:r>
              <a:rPr dirty="0" sz="2000" spc="-5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to</a:t>
            </a:r>
            <a:r>
              <a:rPr dirty="0" sz="2000" spc="-5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practice</a:t>
            </a:r>
            <a:r>
              <a:rPr dirty="0" sz="2000" spc="-5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Data</a:t>
            </a:r>
            <a:r>
              <a:rPr dirty="0" sz="2000" spc="-50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Cleaning prevalent</a:t>
            </a:r>
            <a:endParaRPr sz="2000">
              <a:latin typeface="Carlito"/>
              <a:cs typeface="Carlito"/>
            </a:endParaRPr>
          </a:p>
          <a:p>
            <a:pPr marL="355600" marR="404495" indent="-342900">
              <a:lnSpc>
                <a:spcPct val="110000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 spc="-25">
                <a:latin typeface="Carlito"/>
                <a:cs typeface="Carlito"/>
              </a:rPr>
              <a:t>Testing</a:t>
            </a:r>
            <a:r>
              <a:rPr dirty="0" sz="2000" spc="-3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of</a:t>
            </a:r>
            <a:r>
              <a:rPr dirty="0" sz="2000" spc="-4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simple</a:t>
            </a:r>
            <a:r>
              <a:rPr dirty="0" sz="2000" spc="-1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analytics</a:t>
            </a:r>
            <a:r>
              <a:rPr dirty="0" sz="2000" spc="-3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was</a:t>
            </a:r>
            <a:r>
              <a:rPr dirty="0" sz="2000" spc="-3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done</a:t>
            </a:r>
            <a:r>
              <a:rPr dirty="0" sz="2000" spc="-60">
                <a:latin typeface="Carlito"/>
                <a:cs typeface="Carlito"/>
              </a:rPr>
              <a:t> </a:t>
            </a:r>
            <a:r>
              <a:rPr dirty="0" sz="2000" spc="-25">
                <a:latin typeface="Carlito"/>
                <a:cs typeface="Carlito"/>
              </a:rPr>
              <a:t>to </a:t>
            </a:r>
            <a:r>
              <a:rPr dirty="0" sz="2000">
                <a:latin typeface="Carlito"/>
                <a:cs typeface="Carlito"/>
              </a:rPr>
              <a:t>help</a:t>
            </a:r>
            <a:r>
              <a:rPr dirty="0" sz="2000" spc="-70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illustrate</a:t>
            </a:r>
            <a:r>
              <a:rPr dirty="0" sz="2000" spc="-30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descriptive,</a:t>
            </a:r>
            <a:r>
              <a:rPr dirty="0" sz="2000" spc="-35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useful information</a:t>
            </a:r>
            <a:r>
              <a:rPr dirty="0" sz="2000" spc="-25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available </a:t>
            </a:r>
            <a:r>
              <a:rPr dirty="0" sz="2000">
                <a:latin typeface="Carlito"/>
                <a:cs typeface="Carlito"/>
              </a:rPr>
              <a:t>via</a:t>
            </a:r>
            <a:r>
              <a:rPr dirty="0" sz="2000" spc="-2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a</a:t>
            </a:r>
            <a:r>
              <a:rPr dirty="0" sz="2000" spc="-20">
                <a:latin typeface="Carlito"/>
                <a:cs typeface="Carlito"/>
              </a:rPr>
              <a:t> data </a:t>
            </a:r>
            <a:r>
              <a:rPr dirty="0" sz="2000" spc="-10">
                <a:latin typeface="Carlito"/>
                <a:cs typeface="Carlito"/>
              </a:rPr>
              <a:t>warehouse</a:t>
            </a:r>
            <a:endParaRPr sz="20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Carlito"/>
                <a:cs typeface="Carlito"/>
              </a:rPr>
              <a:t>Led</a:t>
            </a:r>
            <a:r>
              <a:rPr dirty="0" sz="2000" spc="-6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to</a:t>
            </a:r>
            <a:r>
              <a:rPr dirty="0" sz="2000" spc="-4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the</a:t>
            </a:r>
            <a:r>
              <a:rPr dirty="0" sz="2000" spc="-5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decision</a:t>
            </a:r>
            <a:r>
              <a:rPr dirty="0" sz="2000" spc="-4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that</a:t>
            </a:r>
            <a:r>
              <a:rPr dirty="0" sz="2000" spc="-5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PaaS</a:t>
            </a:r>
            <a:r>
              <a:rPr dirty="0" sz="2000" spc="-3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is</a:t>
            </a:r>
            <a:r>
              <a:rPr dirty="0" sz="2000" spc="-4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more</a:t>
            </a:r>
            <a:r>
              <a:rPr dirty="0" sz="2000" spc="-45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cost-</a:t>
            </a:r>
            <a:endParaRPr sz="20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245"/>
              </a:spcBef>
            </a:pPr>
            <a:r>
              <a:rPr dirty="0" sz="2000" spc="-10">
                <a:latin typeface="Carlito"/>
                <a:cs typeface="Carlito"/>
              </a:rPr>
              <a:t>effective</a:t>
            </a:r>
            <a:r>
              <a:rPr dirty="0" sz="2000" spc="-3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and</a:t>
            </a:r>
            <a:r>
              <a:rPr dirty="0" sz="2000" spc="-4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is</a:t>
            </a:r>
            <a:r>
              <a:rPr dirty="0" sz="2000" spc="-30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a</a:t>
            </a:r>
            <a:r>
              <a:rPr dirty="0" sz="2000" spc="-45">
                <a:latin typeface="Carlito"/>
                <a:cs typeface="Carlito"/>
              </a:rPr>
              <a:t> </a:t>
            </a:r>
            <a:r>
              <a:rPr dirty="0" sz="2000">
                <a:latin typeface="Carlito"/>
                <a:cs typeface="Carlito"/>
              </a:rPr>
              <a:t>viable</a:t>
            </a:r>
            <a:r>
              <a:rPr dirty="0" sz="2000" spc="-30">
                <a:latin typeface="Carlito"/>
                <a:cs typeface="Carlito"/>
              </a:rPr>
              <a:t> </a:t>
            </a:r>
            <a:r>
              <a:rPr dirty="0" sz="2000" spc="-10">
                <a:latin typeface="Carlito"/>
                <a:cs typeface="Carlito"/>
              </a:rPr>
              <a:t>solution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524500" y="0"/>
            <a:ext cx="6667500" cy="6858000"/>
            <a:chOff x="5524500" y="0"/>
            <a:chExt cx="6667500" cy="685800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4500" y="57"/>
              <a:ext cx="6667500" cy="6857873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1582400" y="0"/>
              <a:ext cx="609600" cy="204470"/>
            </a:xfrm>
            <a:custGeom>
              <a:avLst/>
              <a:gdLst/>
              <a:ahLst/>
              <a:cxnLst/>
              <a:rect l="l" t="t" r="r" b="b"/>
              <a:pathLst>
                <a:path w="609600" h="204470">
                  <a:moveTo>
                    <a:pt x="609600" y="0"/>
                  </a:moveTo>
                  <a:lnTo>
                    <a:pt x="0" y="0"/>
                  </a:lnTo>
                  <a:lnTo>
                    <a:pt x="0" y="204216"/>
                  </a:lnTo>
                  <a:lnTo>
                    <a:pt x="609600" y="204216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1582400" y="0"/>
            <a:ext cx="609600" cy="204470"/>
          </a:xfrm>
          <a:prstGeom prst="rect">
            <a:avLst/>
          </a:prstGeom>
          <a:ln w="15875">
            <a:solidFill>
              <a:srgbClr val="13234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635">
              <a:lnSpc>
                <a:spcPts val="1550"/>
              </a:lnSpc>
            </a:pPr>
            <a:r>
              <a:rPr dirty="0" sz="1400" spc="-25" b="1">
                <a:latin typeface="Carlito"/>
                <a:cs typeface="Carlito"/>
              </a:rPr>
              <a:t>35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6494" rIns="0" bIns="0" rtlCol="0" vert="horz">
            <a:spAutoFit/>
          </a:bodyPr>
          <a:lstStyle/>
          <a:p>
            <a:pPr marL="532130"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dirty="0" spc="-120"/>
              <a:t> </a:t>
            </a:r>
            <a:r>
              <a:rPr dirty="0" spc="-10"/>
              <a:t>STEPS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2192000" cy="1227455"/>
            <a:chOff x="0" y="0"/>
            <a:chExt cx="12192000" cy="1227455"/>
          </a:xfrm>
        </p:grpSpPr>
        <p:sp>
          <p:nvSpPr>
            <p:cNvPr id="5" name="object 5" descr=""/>
            <p:cNvSpPr/>
            <p:nvPr/>
          </p:nvSpPr>
          <p:spPr>
            <a:xfrm>
              <a:off x="0" y="1184147"/>
              <a:ext cx="804545" cy="0"/>
            </a:xfrm>
            <a:custGeom>
              <a:avLst/>
              <a:gdLst/>
              <a:ahLst/>
              <a:cxnLst/>
              <a:rect l="l" t="t" r="r" b="b"/>
              <a:pathLst>
                <a:path w="804545" h="0">
                  <a:moveTo>
                    <a:pt x="0" y="0"/>
                  </a:moveTo>
                  <a:lnTo>
                    <a:pt x="804189" y="0"/>
                  </a:lnTo>
                </a:path>
              </a:pathLst>
            </a:custGeom>
            <a:ln w="857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582400" y="0"/>
              <a:ext cx="609600" cy="204470"/>
            </a:xfrm>
            <a:custGeom>
              <a:avLst/>
              <a:gdLst/>
              <a:ahLst/>
              <a:cxnLst/>
              <a:rect l="l" t="t" r="r" b="b"/>
              <a:pathLst>
                <a:path w="609600" h="204470">
                  <a:moveTo>
                    <a:pt x="609600" y="0"/>
                  </a:moveTo>
                  <a:lnTo>
                    <a:pt x="0" y="0"/>
                  </a:lnTo>
                  <a:lnTo>
                    <a:pt x="0" y="204216"/>
                  </a:lnTo>
                  <a:lnTo>
                    <a:pt x="609600" y="204216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919988" y="1922526"/>
            <a:ext cx="9963150" cy="3058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69900" marR="316865" indent="-4572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69900" algn="l"/>
              </a:tabLst>
            </a:pPr>
            <a:r>
              <a:rPr dirty="0" sz="2700" spc="-10" b="1">
                <a:solidFill>
                  <a:srgbClr val="FFFFFF"/>
                </a:solidFill>
                <a:latin typeface="Carlito"/>
                <a:cs typeface="Carlito"/>
              </a:rPr>
              <a:t>In-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depth</a:t>
            </a:r>
            <a:r>
              <a:rPr dirty="0" sz="2700" spc="-7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research</a:t>
            </a:r>
            <a:r>
              <a:rPr dirty="0" sz="2700" spc="-4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dirty="0" sz="2700" spc="-7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Carlito"/>
                <a:cs typeface="Carlito"/>
              </a:rPr>
              <a:t>evaluation</a:t>
            </a:r>
            <a:r>
              <a:rPr dirty="0" sz="2700" spc="-6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dirty="0" sz="2700" spc="-7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PaaS</a:t>
            </a:r>
            <a:r>
              <a:rPr dirty="0" sz="2700" spc="-7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is</a:t>
            </a:r>
            <a:r>
              <a:rPr dirty="0" sz="2700" spc="-8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necessary</a:t>
            </a:r>
            <a:r>
              <a:rPr dirty="0" sz="2700" spc="-7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to</a:t>
            </a:r>
            <a:r>
              <a:rPr dirty="0" sz="2700" spc="-7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Carlito"/>
                <a:cs typeface="Carlito"/>
              </a:rPr>
              <a:t>identify potential</a:t>
            </a:r>
            <a:r>
              <a:rPr dirty="0" sz="2700" spc="-7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changes</a:t>
            </a:r>
            <a:r>
              <a:rPr dirty="0" sz="2700" spc="-8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with</a:t>
            </a:r>
            <a:r>
              <a:rPr dirty="0" sz="2700" spc="-6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PaaS,</a:t>
            </a:r>
            <a:r>
              <a:rPr dirty="0" sz="2700" spc="-5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that</a:t>
            </a:r>
            <a:r>
              <a:rPr dirty="0" sz="2700" spc="-6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could</a:t>
            </a:r>
            <a:r>
              <a:rPr dirty="0" sz="2700" spc="-8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lower</a:t>
            </a:r>
            <a:r>
              <a:rPr dirty="0" sz="2700" spc="-7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costs</a:t>
            </a:r>
            <a:r>
              <a:rPr dirty="0" sz="2700" spc="-7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dirty="0" sz="2700" spc="-6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Carlito"/>
                <a:cs typeface="Carlito"/>
              </a:rPr>
              <a:t>simplify operations</a:t>
            </a:r>
            <a:r>
              <a:rPr dirty="0" sz="2700" spc="-6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within</a:t>
            </a:r>
            <a:r>
              <a:rPr dirty="0" sz="2700" spc="-6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the</a:t>
            </a:r>
            <a:r>
              <a:rPr dirty="0" sz="2700" spc="-6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data</a:t>
            </a:r>
            <a:r>
              <a:rPr dirty="0" sz="2700" spc="-5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Carlito"/>
                <a:cs typeface="Carlito"/>
              </a:rPr>
              <a:t>warehouse.</a:t>
            </a:r>
            <a:endParaRPr sz="27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145"/>
              </a:spcBef>
              <a:buClr>
                <a:srgbClr val="FFFFFF"/>
              </a:buClr>
              <a:buFont typeface="Arial"/>
              <a:buChar char="•"/>
            </a:pPr>
            <a:endParaRPr sz="2700">
              <a:latin typeface="Carlito"/>
              <a:cs typeface="Carlito"/>
            </a:endParaRPr>
          </a:p>
          <a:p>
            <a:pPr marL="469900" marR="5080" indent="-457200">
              <a:lnSpc>
                <a:spcPct val="100000"/>
              </a:lnSpc>
              <a:buFont typeface="Arial"/>
              <a:buChar char="•"/>
              <a:tabLst>
                <a:tab pos="469900" algn="l"/>
              </a:tabLst>
            </a:pP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Data</a:t>
            </a:r>
            <a:r>
              <a:rPr dirty="0" sz="2700" spc="-7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Carlito"/>
                <a:cs typeface="Carlito"/>
              </a:rPr>
              <a:t>completeness</a:t>
            </a:r>
            <a:r>
              <a:rPr dirty="0" sz="2700" spc="-5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dirty="0" sz="2700" spc="-7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data</a:t>
            </a:r>
            <a:r>
              <a:rPr dirty="0" sz="2700" spc="-6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consistency</a:t>
            </a:r>
            <a:r>
              <a:rPr dirty="0" sz="2700" spc="-7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need</a:t>
            </a:r>
            <a:r>
              <a:rPr dirty="0" sz="2700" spc="-7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to</a:t>
            </a:r>
            <a:r>
              <a:rPr dirty="0" sz="2700" spc="-7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be</a:t>
            </a:r>
            <a:r>
              <a:rPr dirty="0" sz="2700" spc="-6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Carlito"/>
                <a:cs typeface="Carlito"/>
              </a:rPr>
              <a:t>improved</a:t>
            </a:r>
            <a:r>
              <a:rPr dirty="0" sz="2700" spc="-6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so</a:t>
            </a:r>
            <a:r>
              <a:rPr dirty="0" sz="2700" spc="-7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spc="-25" b="1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can</a:t>
            </a:r>
            <a:r>
              <a:rPr dirty="0" sz="2700" spc="-8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help</a:t>
            </a:r>
            <a:r>
              <a:rPr dirty="0" sz="2700" spc="-8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create</a:t>
            </a:r>
            <a:r>
              <a:rPr dirty="0" sz="2700" spc="-5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more</a:t>
            </a:r>
            <a:r>
              <a:rPr dirty="0" sz="2700" spc="-8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detailed</a:t>
            </a:r>
            <a:r>
              <a:rPr dirty="0" sz="2700" spc="-6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analytics</a:t>
            </a:r>
            <a:r>
              <a:rPr dirty="0" sz="2700" spc="-8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dirty="0" sz="2700" spc="-80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allow</a:t>
            </a:r>
            <a:r>
              <a:rPr dirty="0" sz="2700" spc="-8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for</a:t>
            </a:r>
            <a:r>
              <a:rPr dirty="0" sz="2700" spc="-8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Carlito"/>
                <a:cs typeface="Carlito"/>
              </a:rPr>
              <a:t>better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comparison</a:t>
            </a:r>
            <a:r>
              <a:rPr dirty="0" sz="2700" spc="-114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between</a:t>
            </a:r>
            <a:r>
              <a:rPr dirty="0" sz="2700" spc="-95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rlito"/>
                <a:cs typeface="Carlito"/>
              </a:rPr>
              <a:t>both</a:t>
            </a:r>
            <a:r>
              <a:rPr dirty="0" sz="2700" spc="-114" b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Carlito"/>
                <a:cs typeface="Carlito"/>
              </a:rPr>
              <a:t>wineries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582400" y="0"/>
            <a:ext cx="609600" cy="204470"/>
          </a:xfrm>
          <a:prstGeom prst="rect">
            <a:avLst/>
          </a:prstGeom>
          <a:ln w="15875">
            <a:solidFill>
              <a:srgbClr val="13234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635">
              <a:lnSpc>
                <a:spcPts val="1550"/>
              </a:lnSpc>
            </a:pPr>
            <a:r>
              <a:rPr dirty="0" sz="1400" spc="-25" b="1">
                <a:latin typeface="Carlito"/>
                <a:cs typeface="Carlito"/>
              </a:rPr>
              <a:t>36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1063"/>
            <a:ext cx="8092312" cy="64769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86739" y="2284298"/>
            <a:ext cx="2515870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0" b="1">
                <a:solidFill>
                  <a:srgbClr val="FFFFFF"/>
                </a:solidFill>
                <a:latin typeface="Carlito"/>
                <a:cs typeface="Carlito"/>
              </a:rPr>
              <a:t>Q &amp; </a:t>
            </a:r>
            <a:r>
              <a:rPr dirty="0" sz="8000" spc="-50" b="1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8000">
              <a:latin typeface="Carlito"/>
              <a:cs typeface="Carlito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28104" y="0"/>
            <a:ext cx="5262372" cy="6857997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169924" y="6484721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latin typeface="Carlito"/>
                <a:cs typeface="Carlito"/>
              </a:rPr>
              <a:t>1</a:t>
            </a:r>
            <a:endParaRPr sz="9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2187555" cy="6858000"/>
            <a:chOff x="0" y="0"/>
            <a:chExt cx="12187555" cy="68580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63539" y="0"/>
              <a:ext cx="6723888" cy="685494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5507989" cy="685799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369945" y="2472690"/>
            <a:ext cx="457263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/>
              <a:t>THANK </a:t>
            </a:r>
            <a:r>
              <a:rPr dirty="0" sz="7200" spc="-80"/>
              <a:t>YOU</a:t>
            </a:r>
            <a:endParaRPr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2024-12-15T23:39:43Z</dcterms:created>
  <dcterms:modified xsi:type="dcterms:W3CDTF">2024-12-15T23:39:43Z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2024-12-15T00:00:00Z</vt:filetime>
  </property>
  <property fmtid="{D5CDD505-2E9C-101B-9397-08002B2CF9AE}" pid="3" name="Producer">
    <vt:lpwstr>3-Heights(TM) PDF Security Shell 4.8.25.2 (http://www.pdf-tools.com)</vt:lpwstr>
  </property>
</Properties>
</file>